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omments/modernComment_10B_0.xml" ContentType="application/vnd.ms-powerpoint.comment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sldIdLst>
    <p:sldId id="256" r:id="rId5"/>
    <p:sldId id="308" r:id="rId6"/>
    <p:sldId id="257" r:id="rId7"/>
    <p:sldId id="258" r:id="rId8"/>
    <p:sldId id="307" r:id="rId9"/>
    <p:sldId id="259" r:id="rId10"/>
    <p:sldId id="260" r:id="rId11"/>
    <p:sldId id="306" r:id="rId12"/>
    <p:sldId id="261" r:id="rId13"/>
    <p:sldId id="262" r:id="rId14"/>
    <p:sldId id="263" r:id="rId15"/>
    <p:sldId id="264" r:id="rId16"/>
    <p:sldId id="265" r:id="rId17"/>
    <p:sldId id="266" r:id="rId18"/>
    <p:sldId id="309" r:id="rId19"/>
    <p:sldId id="267" r:id="rId20"/>
    <p:sldId id="311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BF9E2D-541C-A384-6CEF-9D3ED583668F}" name="ALVARO CAÑIL MONTERO" initials="AC" userId="S::a.canilm@upm.es::364b86cd-e036-49e2-bfca-f9a14b01300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AFC"/>
    <a:srgbClr val="E7F0F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ISI\Documents\Alvaro\Window_Control\Window_Control\documentation\z_hysteresis_calibration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sz="1600" b="0" i="0" u="none" strike="noStrike" cap="all" normalizeH="0" baseline="0">
                <a:effectLst/>
              </a:rPr>
              <a:t>Z Axis Hysteresis Calibration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z_hysteresis_calibration!$C$1</c:f>
              <c:strCache>
                <c:ptCount val="1"/>
                <c:pt idx="0">
                  <c:v>z_error_mm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diamond"/>
            <c:size val="6"/>
            <c:spPr>
              <a:solidFill>
                <a:schemeClr val="accent1"/>
              </a:solidFill>
              <a:ln w="9525">
                <a:solidFill>
                  <a:schemeClr val="accent1"/>
                </a:solidFill>
                <a:round/>
              </a:ln>
              <a:effectLst/>
            </c:spPr>
          </c:marker>
          <c:trendline>
            <c:spPr>
              <a:ln w="9525" cap="rnd">
                <a:solidFill>
                  <a:schemeClr val="accent1"/>
                </a:solidFill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-0.17529986876640419"/>
                  <c:y val="2.1525955088947217E-3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800" b="0" i="0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600" baseline="0"/>
                      <a:t>y = 0.0533x - 0.0012</a:t>
                    </a:r>
                    <a:br>
                      <a:rPr lang="en-US" sz="1600" baseline="0"/>
                    </a:br>
                    <a:r>
                      <a:rPr lang="en-US" sz="1600" baseline="0"/>
                      <a:t>R² = 0.9988</a:t>
                    </a:r>
                    <a:endParaRPr lang="en-US" sz="1600"/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8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z_hysteresis_calibration!$A$2:$A$21</c:f>
              <c:numCache>
                <c:formatCode>General</c:formatCode>
                <c:ptCount val="20"/>
                <c:pt idx="0">
                  <c:v>2</c:v>
                </c:pt>
                <c:pt idx="1">
                  <c:v>6</c:v>
                </c:pt>
                <c:pt idx="2">
                  <c:v>10</c:v>
                </c:pt>
                <c:pt idx="3">
                  <c:v>14</c:v>
                </c:pt>
                <c:pt idx="4">
                  <c:v>18</c:v>
                </c:pt>
                <c:pt idx="5">
                  <c:v>22</c:v>
                </c:pt>
                <c:pt idx="6">
                  <c:v>26</c:v>
                </c:pt>
                <c:pt idx="7">
                  <c:v>30</c:v>
                </c:pt>
                <c:pt idx="8">
                  <c:v>34</c:v>
                </c:pt>
                <c:pt idx="9">
                  <c:v>38</c:v>
                </c:pt>
                <c:pt idx="10">
                  <c:v>42</c:v>
                </c:pt>
                <c:pt idx="11">
                  <c:v>46</c:v>
                </c:pt>
                <c:pt idx="12">
                  <c:v>50</c:v>
                </c:pt>
                <c:pt idx="13">
                  <c:v>54</c:v>
                </c:pt>
                <c:pt idx="14">
                  <c:v>58</c:v>
                </c:pt>
                <c:pt idx="15">
                  <c:v>62</c:v>
                </c:pt>
                <c:pt idx="16">
                  <c:v>66</c:v>
                </c:pt>
                <c:pt idx="17">
                  <c:v>68</c:v>
                </c:pt>
                <c:pt idx="18">
                  <c:v>70</c:v>
                </c:pt>
                <c:pt idx="19">
                  <c:v>72</c:v>
                </c:pt>
              </c:numCache>
            </c:numRef>
          </c:xVal>
          <c:yVal>
            <c:numRef>
              <c:f>z_hysteresis_calibration!$C$2:$C$21</c:f>
              <c:numCache>
                <c:formatCode>General</c:formatCode>
                <c:ptCount val="20"/>
                <c:pt idx="0">
                  <c:v>0.1</c:v>
                </c:pt>
                <c:pt idx="1">
                  <c:v>0.3</c:v>
                </c:pt>
                <c:pt idx="2">
                  <c:v>0.5</c:v>
                </c:pt>
                <c:pt idx="3">
                  <c:v>0.7</c:v>
                </c:pt>
                <c:pt idx="4">
                  <c:v>1</c:v>
                </c:pt>
                <c:pt idx="5">
                  <c:v>1.2</c:v>
                </c:pt>
                <c:pt idx="6">
                  <c:v>1.4</c:v>
                </c:pt>
                <c:pt idx="7">
                  <c:v>1.6</c:v>
                </c:pt>
                <c:pt idx="8">
                  <c:v>1.8</c:v>
                </c:pt>
                <c:pt idx="9">
                  <c:v>2</c:v>
                </c:pt>
                <c:pt idx="10">
                  <c:v>2.2000000000000002</c:v>
                </c:pt>
                <c:pt idx="11">
                  <c:v>2.5</c:v>
                </c:pt>
                <c:pt idx="12">
                  <c:v>2.8</c:v>
                </c:pt>
                <c:pt idx="13">
                  <c:v>2.9</c:v>
                </c:pt>
                <c:pt idx="14">
                  <c:v>3.1</c:v>
                </c:pt>
                <c:pt idx="15">
                  <c:v>3.3</c:v>
                </c:pt>
                <c:pt idx="16">
                  <c:v>3.5</c:v>
                </c:pt>
                <c:pt idx="17">
                  <c:v>3.6</c:v>
                </c:pt>
                <c:pt idx="18">
                  <c:v>3.7</c:v>
                </c:pt>
                <c:pt idx="19">
                  <c:v>3.8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A85-425C-B0F1-ABF790EA15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21555552"/>
        <c:axId val="1821580512"/>
      </c:scatterChart>
      <c:valAx>
        <c:axId val="18215555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sz="1200"/>
                  <a:t>Commanded Z displacement (mm)</a:t>
                </a:r>
              </a:p>
            </c:rich>
          </c:tx>
          <c:layout>
            <c:manualLayout>
              <c:xMode val="edge"/>
              <c:yMode val="edge"/>
              <c:x val="0.26004046369203848"/>
              <c:y val="0.8766203703703703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821580512"/>
        <c:crosses val="autoZero"/>
        <c:crossBetween val="midCat"/>
      </c:valAx>
      <c:valAx>
        <c:axId val="18215805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sz="1200"/>
                  <a:t>Measured error (mm)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82155555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omments/modernComment_10B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88456A2-51C8-448E-AB9E-D7BA9C2BA5FC}" authorId="{B6BF9E2D-541C-A384-6CEF-9D3ED583668F}" created="2026-07-10T13:24:13.02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7"/>
      <ac:spMk id="25" creationId="{00000000-0000-0000-0000-000000000000}"/>
      <ac:txMk cp="0" len="10">
        <ac:context len="44" hash="2842680573"/>
      </ac:txMk>
    </ac:txMkLst>
    <p188:pos x="653555" y="260363"/>
    <p188:txBody>
      <a:bodyPr/>
      <a:lstStyle/>
      <a:p>
        <a:r>
          <a:rPr lang="es-ES"/>
          <a:t>The measured error was approximated with a linear regression. The fitted slope is close to 0.053 mm/mm, equivalent to a 4 mm correction over a 75 mm displacement.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4217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Apertura: presentar el proyecto como una aplicación embebida completa montada sobre el ejemplo WiFi de ST. Esta diapositiva puede llevar una foto del prototipo o una captura limpia de la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  <a:p>
            <a:r>
              <a:rPr lang="es-ES" dirty="0"/>
              <a:t>Podemos observar</a:t>
            </a:r>
            <a:r>
              <a:rPr lang="es-ES" baseline="0" dirty="0"/>
              <a:t> en detalle el sistema </a:t>
            </a:r>
            <a:r>
              <a:rPr lang="es-ES" dirty="0" err="1"/>
              <a:t>mecatrónico</a:t>
            </a:r>
            <a:r>
              <a:rPr lang="es-ES" dirty="0"/>
              <a:t>. </a:t>
            </a:r>
            <a:r>
              <a:rPr lang="es-ES" baseline="0" dirty="0"/>
              <a:t>La plataforma rodeada se mueve verticalmente con estos motores paso a paso NEMA-17[1], mediante husillos [2]. El desplazamiento horizontal se realiza con este motor[3], que mediante un mecanismo de rueda dentada y correas [4] mueven los patines que sujetan el panel móvil. El origen de movimiento está definido por estos finales de carrera mecánicos.</a:t>
            </a:r>
          </a:p>
          <a:p>
            <a:endParaRPr lang="es-ES" baseline="0" dirty="0"/>
          </a:p>
          <a:p>
            <a:r>
              <a:rPr lang="es-ES" baseline="0" dirty="0"/>
              <a:t>Como puede a preciarse, las plataformas de ambos lados deben elevarse o descender al mismo tiempo, por lo que los cuatro motores deben moverse conjuntamente.  Debe ocurrir de la misma manera con los patines horizontales.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1CBEF8-A2DC-4207-B976-6347D87D78B2}" type="slidenum">
              <a:rPr lang="es-ES_tradnl" smtClean="0"/>
              <a:pPr>
                <a:defRPr/>
              </a:pPr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319965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sistema parte de una placa STM32 con el módulo WiFi ST67W6X. Sobre el ejemplo HTTP de ST se construye una aplicación real: el usuario se conecta al punto de acceso, abre la interfaz y desde ahí consulta estado, cambia configuración, sincroniza hora, mueve el mecanismo, lanza homing o activa automático. Recalcar que la web no es el proyecto: la web dispara eventos sobre una FSM, la FSM decide y una tarea dedicada mueve motores.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arranque no entra directamente en la aplicación. Primero ejecuta el esqueleto CubeIDE. La parte WiFi entra de forma especial: MX_ST67W6X_Init crea ST67W6XTask, y esa tarea llama a main_app. Dentro de main_app se inicializan logging, callbacks, driver ST67, red y después SolarApp_Start. Solo entonces se configura Soft-AP y servidor HTTP. Mencionar parche SPI_RDY dentro de USER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el orden importa: WiFi viene del ejemplo ST, luego FreeRTOS crea defaultTask/gpsTask, y SolarApp_Start carga flash, crea movimiento, pide homing y crea la FSM. Insistir en que el socket HTTP no mueve motores directamente; valida y publica eventos. La separación evita que una petición HTTP bloquee el control físico.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Uso local: STM32 crea su red, usuario abre la web. Ejemplo manual: primero MANUAL, luego objetivo X/Z, HTTP valida estado, guarda targets y dispara submit_manual_goto. La FSM recoge el evento y pide movimiento a movementTask. /status enseña estado FSM, auto_on, RTC, país, coordenadas, posición, targets, ángulos y diagnóstico GPS.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usuario interacciona</a:t>
            </a:r>
            <a:r>
              <a:rPr lang="es-ES" baseline="0" dirty="0"/>
              <a:t> con la interfaz y envía formularios al servidor web de manera asíncrona.  El servidor web gestiona estos formularios y envía los cambios de estado a la FSM, que ejecuta las rutinas correspondientes en las que se segmenta el programa y habilita los distintos modos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1CBEF8-A2DC-4207-B976-6347D87D78B2}" type="slidenum">
              <a:rPr lang="es-ES_tradnl" smtClean="0"/>
              <a:pPr>
                <a:defRPr/>
              </a:pPr>
              <a:t>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321720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FSM es el centro de control. No se permite que cualquier botón actúe en cualquier modo. Manual y efemérides se bloquean si automático está activo. fsmTask espera eventos, fsmProcess cambia estado y si hay acción física llama a requestMove/requestHome. En AUTO_MODE ejecuta autoMode periódicamente.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autoMode no vive dentro de la web. Lo ejecuta fsmTask si el estado es AUTO_MODE. Lee RTC, rellena entradas solares, calcula posición solar, AOI e interpolación a X/Z. Si la diferencia supera 0,5 mm, encola movimiento. GPS se sincroniza al final del arranque Soft-AP: enciende receptor, lee NMEA, ajusta RTC y apaga GPS. Mencionar que GPS_REQUIRE_FIX_FOR_RTC_SYNC = 0 es decisión de banco.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configuración define contexto solar y se guarda en flash. La hora manual existe para pruebas sin GPS. En manual, el usuario no manda pasos a motores; manda X/Z en mm. El firmware lo interpreta como objetivo absoluto y lo convierte internamente. Efemérides se parece al automático, pero azimuth/elevation entran desde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CubeMX configura periféricos y pines; el código propio añade lógica de uso. GPS_enable tiene estado inicial bajo para dejar el GPS apagado. Al sincronizar, se pone alto, espera asentamiento y empieza a leer NMEA. Motores usan STEP/DIR/ENABLE con temporización directa por DWT. Finales de carrera llegan por EXTI.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tarea de movimiento es deliberadamente serial: evita dos movimientos físicos simultáneos o una cola larga de objetivos antiguos. CMD_MOVE llama a move(x,z); CMD_HOME llama a GoHomePair. Posición física en g_x_val/g_z_val y objetivos en g_x_target/g_z_target. Tras cada movimiento se guarda con savePos; al reinicio aun así se pide homing para referenciar de nuevo.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hay EEPROM externa ni FS. Se guarda una estructura en la última página de flash interna, con magic WCV1, version, size y CRC. Storage_LoadAll valida y carga, o usa defaults. Ventaja: formato único y controlado. Limitación: cada guardado borra/programa la página completa; para producto haría falta wear leveling o reducir escrituras.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E84D9-9BA9-ECE8-396E-9F7EE153D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46F4F-7570-CA47-FAF3-953B18C023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177CD2-9893-A463-9B54-9288D9F34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hay EEPROM externa ni FS. Se guarda una estructura en la última página de flash interna, con magic WCV1, version, size y CRC. Storage_LoadAll valida y carga, o usa defaults. Ventaja: formato único y controlado. Limitación: cada guardado borra/programa la página completa; para producto haría falta wear leveling o reducir escrituras.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359CF-0ABE-E9F2-9AB0-DE153D7B5B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6992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esconder parches: explicarlos con lenguaje técnico. El proyecto migra/adapta un ejemplo ST, con ventajas y complejidad. SPI_RDY necesitó asegurarse después de regenerar pinout. GPS se pide tras Soft‑AP para no bloquear ni interferir con arranque. Mencionar RTC_WEEKDAY_MONDAY como detalle a pulir y endpoints GET como válido para laboratorio pero mejorable.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B1BAD-9CC0-963F-93CA-EAC80C62A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42C388-BAB2-B5BE-204A-FC4C21EF00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DEB0CF-576E-B690-6661-B1FC44B8D1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configuración define contexto solar y se guarda en flash. La hora manual existe para pruebas sin GPS. En manual, el usuario no manda pasos a motores; manda X/Z en mm. El firmware lo interpreta como objetivo absoluto y lo convierte internamente. Efemérides se parece al automático, pero azimuth/elevation entran desde usuario.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DDF87-1FB1-8804-3DA0-410E352151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691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3586" y="260353"/>
            <a:ext cx="1756833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n 3" descr="escupm01_new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86" y="5803900"/>
            <a:ext cx="15367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60648"/>
            <a:ext cx="9518848" cy="792088"/>
          </a:xfrm>
          <a:prstGeom prst="rect">
            <a:avLst/>
          </a:prstGeom>
        </p:spPr>
        <p:txBody>
          <a:bodyPr vert="horz" anchor="ctr"/>
          <a:lstStyle>
            <a:lvl1pPr>
              <a:defRPr sz="2800" b="1">
                <a:latin typeface="Lato" panose="020F0502020204030203" pitchFamily="34" charset="0"/>
              </a:defRPr>
            </a:lvl1pPr>
          </a:lstStyle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600" y="1268760"/>
            <a:ext cx="10972800" cy="5360640"/>
          </a:xfrm>
          <a:prstGeom prst="rect">
            <a:avLst/>
          </a:prstGeom>
        </p:spPr>
        <p:txBody>
          <a:bodyPr vert="horz"/>
          <a:lstStyle>
            <a:lvl1pPr>
              <a:defRPr sz="2000">
                <a:latin typeface="Lato" panose="020F0502020204030203" pitchFamily="34" charset="0"/>
              </a:defRPr>
            </a:lvl1pPr>
            <a:lvl2pPr>
              <a:defRPr sz="1800">
                <a:latin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</a:defRPr>
            </a:lvl3pPr>
            <a:lvl4pPr>
              <a:defRPr sz="1400">
                <a:latin typeface="Lato" panose="020F0502020204030203" pitchFamily="34" charset="0"/>
              </a:defRPr>
            </a:lvl4pPr>
            <a:lvl5pPr>
              <a:defRPr sz="1400">
                <a:latin typeface="Lato" panose="020F0502020204030203" pitchFamily="34" charset="0"/>
              </a:defRPr>
            </a:lvl5pPr>
          </a:lstStyle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s-E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26A4B80-14AF-445B-B704-706A356374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8AA98-757B-431C-9707-115630462B55}" type="slidenum">
              <a:rPr lang="es-ES_tradnl"/>
              <a:pPr>
                <a:defRPr/>
              </a:pPr>
              <a:t>‹Nº›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493741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B_0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" name="Shape 1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B7285">
              <a:alpha val="90000"/>
            </a:srgbClr>
          </a:solidFill>
          <a:ln w="12700">
            <a:solidFill>
              <a:srgbClr val="0B728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Window Control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758952" y="2039112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FE8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firmware presentation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58952" y="276148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Startup · routines · modes · patches · real prototype status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543800" y="1261872"/>
            <a:ext cx="3931920" cy="3858768"/>
          </a:xfrm>
          <a:prstGeom prst="roundRect">
            <a:avLst>
              <a:gd name="adj" fmla="val 3791"/>
            </a:avLst>
          </a:prstGeom>
          <a:solidFill>
            <a:srgbClr val="152D44"/>
          </a:solidFill>
          <a:ln w="19050">
            <a:solidFill>
              <a:srgbClr val="16A8C9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8" name="Text 6"/>
          <p:cNvSpPr/>
          <p:nvPr/>
        </p:nvSpPr>
        <p:spPr>
          <a:xfrm>
            <a:off x="7818120" y="16002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HERE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092440" y="2331720"/>
            <a:ext cx="28346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photo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 main web UI screenshot</a:t>
            </a:r>
            <a:endParaRPr lang="en-US" sz="20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872B7172-99BB-3912-9667-BB116378F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58" y="1138205"/>
            <a:ext cx="5754374" cy="4119596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7E5AB1E6-CFD2-F657-90E4-207C779FCE2E}"/>
              </a:ext>
            </a:extLst>
          </p:cNvPr>
          <p:cNvSpPr/>
          <p:nvPr/>
        </p:nvSpPr>
        <p:spPr>
          <a:xfrm>
            <a:off x="6439166" y="2107915"/>
            <a:ext cx="1104634" cy="34747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Frame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583D998-2F8E-8371-8431-91D48F6CC681}"/>
              </a:ext>
            </a:extLst>
          </p:cNvPr>
          <p:cNvSpPr/>
          <p:nvPr/>
        </p:nvSpPr>
        <p:spPr>
          <a:xfrm>
            <a:off x="8535465" y="1190895"/>
            <a:ext cx="1104634" cy="34747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Top </a:t>
            </a:r>
            <a:r>
              <a:rPr lang="es-ES" dirty="0" err="1">
                <a:solidFill>
                  <a:schemeClr val="tx1"/>
                </a:solidFill>
              </a:rPr>
              <a:t>part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46887A3-6C20-4524-83A0-EA68CDE8A3DA}"/>
              </a:ext>
            </a:extLst>
          </p:cNvPr>
          <p:cNvSpPr/>
          <p:nvPr/>
        </p:nvSpPr>
        <p:spPr>
          <a:xfrm>
            <a:off x="7265803" y="3904488"/>
            <a:ext cx="1104634" cy="34747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Frame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26E338A-BCEF-34DB-4571-5126A9C43E78}"/>
              </a:ext>
            </a:extLst>
          </p:cNvPr>
          <p:cNvSpPr/>
          <p:nvPr/>
        </p:nvSpPr>
        <p:spPr>
          <a:xfrm>
            <a:off x="6496716" y="2752790"/>
            <a:ext cx="1439381" cy="34747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Lateral </a:t>
            </a:r>
            <a:r>
              <a:rPr lang="es-ES" dirty="0" err="1">
                <a:solidFill>
                  <a:schemeClr val="tx1"/>
                </a:solidFill>
              </a:rPr>
              <a:t>part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D8EC98E-584A-3B54-3776-3189DDEB94B8}"/>
              </a:ext>
            </a:extLst>
          </p:cNvPr>
          <p:cNvSpPr/>
          <p:nvPr/>
        </p:nvSpPr>
        <p:spPr>
          <a:xfrm>
            <a:off x="10356379" y="3429000"/>
            <a:ext cx="1439381" cy="62636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Mobile </a:t>
            </a:r>
            <a:r>
              <a:rPr lang="es-ES" dirty="0" err="1">
                <a:solidFill>
                  <a:schemeClr val="tx1"/>
                </a:solidFill>
              </a:rPr>
              <a:t>pannel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0630BF8-CB02-6B5A-59A1-8DC2B06D59F8}"/>
              </a:ext>
            </a:extLst>
          </p:cNvPr>
          <p:cNvSpPr/>
          <p:nvPr/>
        </p:nvSpPr>
        <p:spPr>
          <a:xfrm>
            <a:off x="9618305" y="4386836"/>
            <a:ext cx="1439381" cy="62636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Exterior </a:t>
            </a:r>
            <a:r>
              <a:rPr lang="es-ES" dirty="0" err="1">
                <a:solidFill>
                  <a:schemeClr val="tx1"/>
                </a:solidFill>
              </a:rPr>
              <a:t>face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4E98522-2BCC-CCC4-1F16-A3C812AB8652}"/>
              </a:ext>
            </a:extLst>
          </p:cNvPr>
          <p:cNvSpPr/>
          <p:nvPr/>
        </p:nvSpPr>
        <p:spPr>
          <a:xfrm>
            <a:off x="10502392" y="1490472"/>
            <a:ext cx="1104634" cy="34747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Frame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116632"/>
            <a:ext cx="7139136" cy="792088"/>
          </a:xfrm>
        </p:spPr>
        <p:txBody>
          <a:bodyPr/>
          <a:lstStyle/>
          <a:p>
            <a:r>
              <a:rPr lang="es-ES" dirty="0"/>
              <a:t>Window </a:t>
            </a:r>
            <a:r>
              <a:rPr lang="es-ES" dirty="0" err="1"/>
              <a:t>Demonstrator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3F8AA98-757B-431C-9707-115630462B55}" type="slidenum">
              <a:rPr lang="es-ES_tradnl" smtClean="0"/>
              <a:pPr>
                <a:defRPr/>
              </a:pPr>
              <a:t>2</a:t>
            </a:fld>
            <a:endParaRPr lang="es-ES_tradnl" dirty="0"/>
          </a:p>
        </p:txBody>
      </p:sp>
      <p:pic>
        <p:nvPicPr>
          <p:cNvPr id="17" name="Marcador de contenido 16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4948" y="1269804"/>
            <a:ext cx="3548316" cy="4731089"/>
          </a:xfrm>
        </p:spPr>
      </p:pic>
      <p:cxnSp>
        <p:nvCxnSpPr>
          <p:cNvPr id="19" name="Conector recto de flecha 18"/>
          <p:cNvCxnSpPr>
            <a:endCxn id="21" idx="1"/>
          </p:cNvCxnSpPr>
          <p:nvPr/>
        </p:nvCxnSpPr>
        <p:spPr bwMode="auto">
          <a:xfrm>
            <a:off x="4295800" y="4122758"/>
            <a:ext cx="1189192" cy="881999"/>
          </a:xfrm>
          <a:prstGeom prst="straightConnector1">
            <a:avLst/>
          </a:prstGeom>
          <a:noFill/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0" name="Rectángulo 19"/>
          <p:cNvSpPr/>
          <p:nvPr/>
        </p:nvSpPr>
        <p:spPr bwMode="auto">
          <a:xfrm>
            <a:off x="1631504" y="2996955"/>
            <a:ext cx="2664296" cy="1629859"/>
          </a:xfrm>
          <a:prstGeom prst="rect">
            <a:avLst/>
          </a:prstGeom>
          <a:noFill/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21" name="Elipse 20"/>
          <p:cNvSpPr/>
          <p:nvPr/>
        </p:nvSpPr>
        <p:spPr bwMode="auto">
          <a:xfrm>
            <a:off x="5231904" y="4869160"/>
            <a:ext cx="1728192" cy="925894"/>
          </a:xfrm>
          <a:prstGeom prst="ellipse">
            <a:avLst/>
          </a:prstGeom>
          <a:noFill/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22" name="Rectángulo redondeado 21"/>
          <p:cNvSpPr/>
          <p:nvPr/>
        </p:nvSpPr>
        <p:spPr bwMode="auto">
          <a:xfrm>
            <a:off x="6698269" y="4465462"/>
            <a:ext cx="795712" cy="418875"/>
          </a:xfrm>
          <a:prstGeom prst="roundRect">
            <a:avLst/>
          </a:prstGeom>
          <a:solidFill>
            <a:schemeClr val="accent1">
              <a:alpha val="76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6810219" y="4436480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Panel móvil</a:t>
            </a:r>
          </a:p>
        </p:txBody>
      </p:sp>
      <p:sp>
        <p:nvSpPr>
          <p:cNvPr id="24" name="Elipse 23"/>
          <p:cNvSpPr/>
          <p:nvPr/>
        </p:nvSpPr>
        <p:spPr bwMode="auto">
          <a:xfrm>
            <a:off x="6082308" y="1269802"/>
            <a:ext cx="648072" cy="360040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25" name="Elipse 24"/>
          <p:cNvSpPr/>
          <p:nvPr/>
        </p:nvSpPr>
        <p:spPr bwMode="auto">
          <a:xfrm>
            <a:off x="4871864" y="1607604"/>
            <a:ext cx="502850" cy="489248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27" name="Elipse 26"/>
          <p:cNvSpPr/>
          <p:nvPr/>
        </p:nvSpPr>
        <p:spPr bwMode="auto">
          <a:xfrm>
            <a:off x="5068714" y="2276872"/>
            <a:ext cx="1728192" cy="792088"/>
          </a:xfrm>
          <a:prstGeom prst="ellipse">
            <a:avLst/>
          </a:prstGeom>
          <a:noFill/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28" name="Elipse 27"/>
          <p:cNvSpPr/>
          <p:nvPr/>
        </p:nvSpPr>
        <p:spPr bwMode="auto">
          <a:xfrm>
            <a:off x="5484992" y="1443675"/>
            <a:ext cx="707594" cy="730290"/>
          </a:xfrm>
          <a:prstGeom prst="ellipse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pic>
        <p:nvPicPr>
          <p:cNvPr id="34" name="Imagen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7403" y="3068963"/>
            <a:ext cx="2592498" cy="1456553"/>
          </a:xfrm>
          <a:prstGeom prst="rect">
            <a:avLst/>
          </a:prstGeom>
        </p:spPr>
      </p:pic>
      <p:sp>
        <p:nvSpPr>
          <p:cNvPr id="36" name="Elipse 35"/>
          <p:cNvSpPr/>
          <p:nvPr/>
        </p:nvSpPr>
        <p:spPr bwMode="auto">
          <a:xfrm>
            <a:off x="2665326" y="3131289"/>
            <a:ext cx="864096" cy="50405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37" name="Rectángulo 36"/>
          <p:cNvSpPr/>
          <p:nvPr/>
        </p:nvSpPr>
        <p:spPr bwMode="auto">
          <a:xfrm>
            <a:off x="1606091" y="1052738"/>
            <a:ext cx="2401679" cy="161445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cxnSp>
        <p:nvCxnSpPr>
          <p:cNvPr id="39" name="Conector recto de flecha 38"/>
          <p:cNvCxnSpPr>
            <a:stCxn id="37" idx="2"/>
          </p:cNvCxnSpPr>
          <p:nvPr/>
        </p:nvCxnSpPr>
        <p:spPr bwMode="auto">
          <a:xfrm>
            <a:off x="2806931" y="2667195"/>
            <a:ext cx="131309" cy="478483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pic>
        <p:nvPicPr>
          <p:cNvPr id="40" name="Imagen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7403" y="1094128"/>
            <a:ext cx="2293150" cy="1530289"/>
          </a:xfrm>
          <a:prstGeom prst="rect">
            <a:avLst/>
          </a:prstGeom>
        </p:spPr>
      </p:pic>
      <p:sp>
        <p:nvSpPr>
          <p:cNvPr id="46" name="Elipse 45"/>
          <p:cNvSpPr/>
          <p:nvPr/>
        </p:nvSpPr>
        <p:spPr bwMode="auto">
          <a:xfrm>
            <a:off x="5123292" y="3429003"/>
            <a:ext cx="877219" cy="925385"/>
          </a:xfrm>
          <a:prstGeom prst="ellipse">
            <a:avLst/>
          </a:prstGeom>
          <a:noFill/>
          <a:ln w="9525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47" name="Elipse 46"/>
          <p:cNvSpPr/>
          <p:nvPr/>
        </p:nvSpPr>
        <p:spPr bwMode="auto">
          <a:xfrm>
            <a:off x="6000511" y="3241326"/>
            <a:ext cx="877219" cy="925385"/>
          </a:xfrm>
          <a:prstGeom prst="ellipse">
            <a:avLst/>
          </a:prstGeom>
          <a:noFill/>
          <a:ln w="9525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48" name="Rectángulo 47"/>
          <p:cNvSpPr/>
          <p:nvPr/>
        </p:nvSpPr>
        <p:spPr bwMode="auto">
          <a:xfrm>
            <a:off x="8125342" y="4329651"/>
            <a:ext cx="2075114" cy="1907663"/>
          </a:xfrm>
          <a:prstGeom prst="rect">
            <a:avLst/>
          </a:prstGeom>
          <a:noFill/>
          <a:ln w="9525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cxnSp>
        <p:nvCxnSpPr>
          <p:cNvPr id="52" name="Conector recto de flecha 51"/>
          <p:cNvCxnSpPr>
            <a:endCxn id="47" idx="5"/>
          </p:cNvCxnSpPr>
          <p:nvPr/>
        </p:nvCxnSpPr>
        <p:spPr bwMode="auto">
          <a:xfrm flipH="1" flipV="1">
            <a:off x="6749264" y="4031189"/>
            <a:ext cx="1399357" cy="408494"/>
          </a:xfrm>
          <a:prstGeom prst="straightConnector1">
            <a:avLst/>
          </a:prstGeom>
          <a:noFill/>
          <a:ln w="9525" cap="flat" cmpd="sng" algn="ctr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57" name="Rectángulo 56"/>
          <p:cNvSpPr/>
          <p:nvPr/>
        </p:nvSpPr>
        <p:spPr bwMode="auto">
          <a:xfrm>
            <a:off x="8169215" y="1093874"/>
            <a:ext cx="1328305" cy="118299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cxnSp>
        <p:nvCxnSpPr>
          <p:cNvPr id="64" name="Conector recto de flecha 63"/>
          <p:cNvCxnSpPr>
            <a:stCxn id="57" idx="1"/>
            <a:endCxn id="24" idx="6"/>
          </p:cNvCxnSpPr>
          <p:nvPr/>
        </p:nvCxnSpPr>
        <p:spPr bwMode="auto">
          <a:xfrm flipH="1" flipV="1">
            <a:off x="6730380" y="1449825"/>
            <a:ext cx="1438832" cy="235551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67" name="Rectángulo 66"/>
          <p:cNvSpPr/>
          <p:nvPr/>
        </p:nvSpPr>
        <p:spPr bwMode="auto">
          <a:xfrm>
            <a:off x="8081066" y="2475242"/>
            <a:ext cx="1816338" cy="1792081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cxnSp>
        <p:nvCxnSpPr>
          <p:cNvPr id="69" name="Conector recto de flecha 68"/>
          <p:cNvCxnSpPr>
            <a:stCxn id="67" idx="1"/>
            <a:endCxn id="28" idx="6"/>
          </p:cNvCxnSpPr>
          <p:nvPr/>
        </p:nvCxnSpPr>
        <p:spPr bwMode="auto">
          <a:xfrm flipH="1" flipV="1">
            <a:off x="6192586" y="1808820"/>
            <a:ext cx="1888480" cy="1562460"/>
          </a:xfrm>
          <a:prstGeom prst="straightConnector1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pic>
        <p:nvPicPr>
          <p:cNvPr id="79" name="Imagen 7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5754" y="1132698"/>
            <a:ext cx="1255220" cy="1128546"/>
          </a:xfrm>
          <a:prstGeom prst="rect">
            <a:avLst/>
          </a:prstGeom>
        </p:spPr>
      </p:pic>
      <p:pic>
        <p:nvPicPr>
          <p:cNvPr id="82" name="Imagen 8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5342" y="2516179"/>
            <a:ext cx="1753588" cy="1710200"/>
          </a:xfrm>
          <a:prstGeom prst="rect">
            <a:avLst/>
          </a:prstGeom>
        </p:spPr>
      </p:pic>
      <p:pic>
        <p:nvPicPr>
          <p:cNvPr id="86" name="Imagen 8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3609" y="4396325"/>
            <a:ext cx="1965257" cy="181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871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4" grpId="0" animBg="1"/>
      <p:bldP spid="25" grpId="0" animBg="1"/>
      <p:bldP spid="28" grpId="0" animBg="1"/>
      <p:bldP spid="36" grpId="0" animBg="1"/>
      <p:bldP spid="37" grpId="0" animBg="1"/>
      <p:bldP spid="46" grpId="0" animBg="1"/>
      <p:bldP spid="47" grpId="0" animBg="1"/>
      <p:bldP spid="48" grpId="0" animBg="1"/>
      <p:bldP spid="57" grpId="0" animBg="1"/>
      <p:bldP spid="6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5989320" y="1261872"/>
            <a:ext cx="5394960" cy="4526280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" name="Text 1"/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What the system does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 before getting into code: problem, parts, and external use.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7" name="Text 5"/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4983480" cy="1792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FontTx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Brings up Soft-AP WiFi and a local HTTP interface.</a:t>
            </a:r>
          </a:p>
          <a:p>
            <a:pPr marL="177800" indent="-177800">
              <a:buSzPct val="100000"/>
              <a:buFontTx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Calculates positions using date, time, location and orientation.</a:t>
            </a:r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panel position with stepper motors.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Enables automatic, manual, ephemeris input, and homing.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Saves configuration and state across resets.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621792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0" name="Text 8"/>
          <p:cNvSpPr/>
          <p:nvPr/>
        </p:nvSpPr>
        <p:spPr>
          <a:xfrm>
            <a:off x="676656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74520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2" name="Text 10"/>
          <p:cNvSpPr/>
          <p:nvPr/>
        </p:nvSpPr>
        <p:spPr>
          <a:xfrm>
            <a:off x="1929384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web UI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27248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4" name="Text 12"/>
          <p:cNvSpPr/>
          <p:nvPr/>
        </p:nvSpPr>
        <p:spPr>
          <a:xfrm>
            <a:off x="3182112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FSM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79976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6" name="Text 14"/>
          <p:cNvSpPr/>
          <p:nvPr/>
        </p:nvSpPr>
        <p:spPr>
          <a:xfrm>
            <a:off x="4434840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Movement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411480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routines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4370832"/>
            <a:ext cx="4983480" cy="1024128"/>
          </a:xfrm>
          <a:prstGeom prst="roundRect">
            <a:avLst>
              <a:gd name="adj" fmla="val 8929"/>
            </a:avLst>
          </a:prstGeom>
          <a:solidFill>
            <a:srgbClr val="F1F7FA"/>
          </a:solidFill>
          <a:ln w="12700">
            <a:solidFill>
              <a:srgbClr val="CDEAF0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9" name="Text 17"/>
          <p:cNvSpPr/>
          <p:nvPr/>
        </p:nvSpPr>
        <p:spPr>
          <a:xfrm>
            <a:off x="795528" y="4517136"/>
            <a:ext cx="458114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main_app() → SolarApp_Start()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fsmTask() selects the routine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movementTask() executes the physical action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548640" y="613562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EEF2F7"/>
          </a:solidFill>
          <a:ln w="1270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5" name="Text 23"/>
          <p:cNvSpPr/>
          <p:nvPr/>
        </p:nvSpPr>
        <p:spPr>
          <a:xfrm>
            <a:off x="713232" y="622706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main_app.c  ·  httpserver.c  ·  state_machine.c  ·  movement_task.cpp  ·  autoMode.cpp  ·  storage.c</a:t>
            </a:r>
            <a:endParaRPr lang="en-US" sz="820" dirty="0"/>
          </a:p>
        </p:txBody>
      </p:sp>
      <p:sp>
        <p:nvSpPr>
          <p:cNvPr id="28" name="Nube 27">
            <a:extLst>
              <a:ext uri="{FF2B5EF4-FFF2-40B4-BE49-F238E27FC236}">
                <a16:creationId xmlns:a16="http://schemas.microsoft.com/office/drawing/2014/main" id="{B5F40103-DA61-EE63-B861-ED99F935402F}"/>
              </a:ext>
            </a:extLst>
          </p:cNvPr>
          <p:cNvSpPr/>
          <p:nvPr/>
        </p:nvSpPr>
        <p:spPr bwMode="auto">
          <a:xfrm>
            <a:off x="6270120" y="1802130"/>
            <a:ext cx="1796429" cy="974852"/>
          </a:xfrm>
          <a:prstGeom prst="cloud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1D21B5C9-21B3-12AB-5793-E447AFDE0FB3}"/>
              </a:ext>
            </a:extLst>
          </p:cNvPr>
          <p:cNvSpPr txBox="1"/>
          <p:nvPr/>
        </p:nvSpPr>
        <p:spPr>
          <a:xfrm>
            <a:off x="6331173" y="1893930"/>
            <a:ext cx="14698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dirty="0"/>
              <a:t>Web</a:t>
            </a:r>
            <a:br>
              <a:rPr lang="es-ES" sz="2200" dirty="0"/>
            </a:br>
            <a:r>
              <a:rPr lang="es-ES" sz="2200" dirty="0"/>
              <a:t>Server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87A06DC-7AD6-355F-EAA7-C6CB53AAF790}"/>
              </a:ext>
            </a:extLst>
          </p:cNvPr>
          <p:cNvSpPr/>
          <p:nvPr/>
        </p:nvSpPr>
        <p:spPr>
          <a:xfrm>
            <a:off x="6111772" y="2857730"/>
            <a:ext cx="1091682" cy="86387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200" dirty="0">
                <a:solidFill>
                  <a:schemeClr val="tx1"/>
                </a:solidFill>
              </a:rPr>
              <a:t>GPS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DFE8D66D-44FE-2E53-EAAD-E1E26AF850C7}"/>
              </a:ext>
            </a:extLst>
          </p:cNvPr>
          <p:cNvSpPr/>
          <p:nvPr/>
        </p:nvSpPr>
        <p:spPr>
          <a:xfrm>
            <a:off x="7909560" y="3400153"/>
            <a:ext cx="1091682" cy="86387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200" dirty="0">
                <a:solidFill>
                  <a:schemeClr val="tx1"/>
                </a:solidFill>
              </a:rPr>
              <a:t>MCU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EC175121-D898-5930-BBAB-2EEDB9D7DC04}"/>
              </a:ext>
            </a:extLst>
          </p:cNvPr>
          <p:cNvSpPr/>
          <p:nvPr/>
        </p:nvSpPr>
        <p:spPr bwMode="auto">
          <a:xfrm>
            <a:off x="7604531" y="4910328"/>
            <a:ext cx="1817065" cy="474269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200" dirty="0">
                <a:solidFill>
                  <a:srgbClr val="000000"/>
                </a:solidFill>
                <a:latin typeface="Arial" charset="0"/>
                <a:ea typeface="ＭＳ Ｐゴシック" charset="0"/>
                <a:cs typeface="Geneva" charset="0"/>
              </a:rPr>
              <a:t>Movement</a:t>
            </a:r>
          </a:p>
        </p:txBody>
      </p:sp>
      <p:sp>
        <p:nvSpPr>
          <p:cNvPr id="42" name="Flecha: hacia abajo 41">
            <a:extLst>
              <a:ext uri="{FF2B5EF4-FFF2-40B4-BE49-F238E27FC236}">
                <a16:creationId xmlns:a16="http://schemas.microsoft.com/office/drawing/2014/main" id="{567EC1B6-F097-56F0-C7D7-5061B46BBEF4}"/>
              </a:ext>
            </a:extLst>
          </p:cNvPr>
          <p:cNvSpPr/>
          <p:nvPr/>
        </p:nvSpPr>
        <p:spPr>
          <a:xfrm>
            <a:off x="8299953" y="4358030"/>
            <a:ext cx="279918" cy="47426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4" name="Flecha: hacia abajo 43">
            <a:extLst>
              <a:ext uri="{FF2B5EF4-FFF2-40B4-BE49-F238E27FC236}">
                <a16:creationId xmlns:a16="http://schemas.microsoft.com/office/drawing/2014/main" id="{ABFD2384-0169-865A-9E41-981D9216B73F}"/>
              </a:ext>
            </a:extLst>
          </p:cNvPr>
          <p:cNvSpPr/>
          <p:nvPr/>
        </p:nvSpPr>
        <p:spPr>
          <a:xfrm rot="18566095">
            <a:off x="7434280" y="2823677"/>
            <a:ext cx="341499" cy="59791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F9043DDD-2D5F-C95E-6AA4-EB009759851E}"/>
              </a:ext>
            </a:extLst>
          </p:cNvPr>
          <p:cNvSpPr txBox="1"/>
          <p:nvPr/>
        </p:nvSpPr>
        <p:spPr>
          <a:xfrm>
            <a:off x="7643976" y="2699370"/>
            <a:ext cx="1620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Configuration</a:t>
            </a:r>
          </a:p>
        </p:txBody>
      </p:sp>
      <p:sp>
        <p:nvSpPr>
          <p:cNvPr id="49" name="Flecha: hacia abajo 48">
            <a:extLst>
              <a:ext uri="{FF2B5EF4-FFF2-40B4-BE49-F238E27FC236}">
                <a16:creationId xmlns:a16="http://schemas.microsoft.com/office/drawing/2014/main" id="{0DC75699-863A-F435-7A46-07BDA0CCA01C}"/>
              </a:ext>
            </a:extLst>
          </p:cNvPr>
          <p:cNvSpPr/>
          <p:nvPr/>
        </p:nvSpPr>
        <p:spPr>
          <a:xfrm rot="16200000">
            <a:off x="9237394" y="3496234"/>
            <a:ext cx="341499" cy="59791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Diagrama de flujo: disco magnético 49">
            <a:extLst>
              <a:ext uri="{FF2B5EF4-FFF2-40B4-BE49-F238E27FC236}">
                <a16:creationId xmlns:a16="http://schemas.microsoft.com/office/drawing/2014/main" id="{4AC1331C-8CD0-78D0-45BC-023394012C1D}"/>
              </a:ext>
            </a:extLst>
          </p:cNvPr>
          <p:cNvSpPr/>
          <p:nvPr/>
        </p:nvSpPr>
        <p:spPr>
          <a:xfrm>
            <a:off x="9897844" y="3469627"/>
            <a:ext cx="1058686" cy="589788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BCC5DC04-E4FF-459D-2E86-48C20CFE0779}"/>
              </a:ext>
            </a:extLst>
          </p:cNvPr>
          <p:cNvSpPr txBox="1"/>
          <p:nvPr/>
        </p:nvSpPr>
        <p:spPr>
          <a:xfrm>
            <a:off x="9599046" y="3019042"/>
            <a:ext cx="1785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Persistent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Real firmware startup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from reset to an operational system with WiFi, tasks, and HTTP server.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48639" y="1380744"/>
            <a:ext cx="10554789" cy="112361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70000" lnSpcReduction="20000"/>
          </a:bodyPr>
          <a:lstStyle/>
          <a:p>
            <a:pPr>
              <a:buSzPct val="100000"/>
            </a:pPr>
            <a:r>
              <a:rPr lang="en-US" sz="2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MX_ST67W6X_Init() creates ST67W6XTask</a:t>
            </a:r>
          </a:p>
          <a:p>
            <a:pPr>
              <a:buSzPct val="100000"/>
            </a:pPr>
            <a:r>
              <a:rPr lang="en-US" sz="2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ST67W6XTask calls </a:t>
            </a:r>
            <a:r>
              <a:rPr lang="en-US" sz="22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main_app</a:t>
            </a:r>
            <a:r>
              <a:rPr lang="en-US" sz="2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()</a:t>
            </a:r>
          </a:p>
          <a:p>
            <a:pPr>
              <a:buSzPct val="100000"/>
            </a:pPr>
            <a:r>
              <a:rPr lang="en-US" sz="2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</a:t>
            </a:r>
            <a:r>
              <a:rPr lang="en-US" sz="22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main_app</a:t>
            </a:r>
            <a:r>
              <a:rPr lang="en-US" sz="2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() initializes WiFi/network</a:t>
            </a:r>
          </a:p>
          <a:p>
            <a:pPr>
              <a:buSzPct val="100000"/>
            </a:pPr>
            <a:r>
              <a:rPr lang="en-US" sz="2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</a:t>
            </a:r>
            <a:r>
              <a:rPr lang="en-US" sz="22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SolarApp_Start</a:t>
            </a:r>
            <a:r>
              <a:rPr lang="en-US" sz="2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() loads storage and starts </a:t>
            </a:r>
            <a:r>
              <a:rPr lang="en-US" sz="22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MovementTask</a:t>
            </a:r>
            <a:r>
              <a:rPr lang="en-US" sz="2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+ FSM</a:t>
            </a:r>
          </a:p>
          <a:p>
            <a:pPr>
              <a:buSzPct val="100000"/>
            </a:pPr>
            <a:r>
              <a:rPr lang="en-US" sz="2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W6X_WiFi_AP_Start() exposes the access point</a:t>
            </a:r>
          </a:p>
          <a:p>
            <a:pPr>
              <a:buSzPct val="100000"/>
            </a:pPr>
            <a:r>
              <a:rPr lang="en-US" sz="2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</a:t>
            </a:r>
            <a:r>
              <a:rPr lang="en-US" sz="220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http_server_socket</a:t>
            </a:r>
            <a:r>
              <a:rPr lang="en-US" sz="2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() starts the web interface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62179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7665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23974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678838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HAL/clock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26157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681021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CubeMX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28339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683203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FreeRTOS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052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68538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main_app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411480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routines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4370832"/>
            <a:ext cx="4983480" cy="1024128"/>
          </a:xfrm>
          <a:prstGeom prst="roundRect">
            <a:avLst>
              <a:gd name="adj" fmla="val 8929"/>
            </a:avLst>
          </a:prstGeom>
          <a:solidFill>
            <a:srgbClr val="F1F7FA"/>
          </a:solidFill>
          <a:ln w="12700">
            <a:solidFill>
              <a:srgbClr val="CDEA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795528" y="4517136"/>
            <a:ext cx="458114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MX_ST67W6X_Init() creates ST67W6XTask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main_app() initializes WiFi/network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SolarApp_Start() starts the custom app layer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6492240" y="2679192"/>
            <a:ext cx="4389120" cy="2788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Reset → HAL/clock → peripherals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FreeRTOS tasks → main_app()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SolarApp_Start → Soft‑AP → GPS sync → HTTP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613562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EEF2F7"/>
          </a:solidFill>
          <a:ln w="1270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713232" y="622706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Core/Src/main.c  ·  app_st67w6x.c  ·  app_freertos.c  ·  Appli/App/main_app.c</a:t>
            </a:r>
            <a:endParaRPr lang="en-US" sz="82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EF15E9D0-AFDB-CEAB-E284-EDB2742DE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6" y="2550075"/>
            <a:ext cx="12192000" cy="41849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633ECA9D-A493-14B4-E327-AF3508A087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442" y="66413"/>
            <a:ext cx="12079115" cy="672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734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FSM Startup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Responsibilities of concurrent tasks and layer separation.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03238" y="1455467"/>
            <a:ext cx="7031558" cy="1792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177800" indent="-177800">
              <a:buSzPct val="100000"/>
              <a:buFontTx/>
              <a:buChar char="•"/>
            </a:pP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The FSM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enters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the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transient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 STARTUP 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state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after 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initFSM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().</a:t>
            </a:r>
          </a:p>
          <a:p>
            <a:pPr marL="177800" indent="-177800">
              <a:buSzPct val="100000"/>
              <a:buFontTx/>
              <a:buChar char="•"/>
            </a:pP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STARTUP 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performs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the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initial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homing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after a 5 s hardware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settling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delay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.</a:t>
            </a:r>
          </a:p>
          <a:p>
            <a:pPr marL="177800" indent="-177800">
              <a:buSzPct val="100000"/>
              <a:buFontTx/>
              <a:buChar char="•"/>
            </a:pP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Once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homing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finishes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,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the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FSM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requests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GPS time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synchronization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.</a:t>
            </a:r>
          </a:p>
          <a:p>
            <a:pPr marL="177800" indent="-177800">
              <a:buSzPct val="100000"/>
              <a:buFontTx/>
              <a:buChar char="•"/>
            </a:pP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The web server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remains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available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while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homing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and GPS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sync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run in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parallel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.</a:t>
            </a:r>
          </a:p>
          <a:p>
            <a:pPr marL="177800" indent="-177800">
              <a:buSzPct val="100000"/>
              <a:buFontTx/>
              <a:buChar char="•"/>
            </a:pP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The web server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remains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available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while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homing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and GPS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sync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 run in </a:t>
            </a:r>
            <a:r>
              <a:rPr lang="es-ES" sz="1700" dirty="0" err="1">
                <a:solidFill>
                  <a:srgbClr val="1F2937"/>
                </a:solidFill>
                <a:latin typeface="Aptos" pitchFamily="34" charset="0"/>
              </a:rPr>
              <a:t>parallel</a:t>
            </a:r>
            <a:r>
              <a:rPr lang="es-ES" sz="1700" dirty="0">
                <a:solidFill>
                  <a:srgbClr val="1F2937"/>
                </a:solidFill>
                <a:latin typeface="Aptos" pitchFamily="34" charset="0"/>
              </a:rPr>
              <a:t>.</a:t>
            </a:r>
          </a:p>
          <a:p>
            <a:pPr marL="177800" indent="-177800">
              <a:buSzPct val="100000"/>
              <a:buFontTx/>
              <a:buChar char="•"/>
            </a:pPr>
            <a:endParaRPr lang="es-ES" dirty="0"/>
          </a:p>
          <a:p>
            <a:pPr marL="177800" indent="-177800">
              <a:buSzPct val="100000"/>
              <a:buFontTx/>
              <a:buChar char="•"/>
            </a:pPr>
            <a:endParaRPr lang="es-ES" dirty="0"/>
          </a:p>
          <a:p>
            <a:pPr marL="177800" indent="-177800">
              <a:buSzPct val="100000"/>
              <a:buChar char="•"/>
            </a:pP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253059" y="3526339"/>
            <a:ext cx="1939735" cy="1092708"/>
          </a:xfrm>
          <a:prstGeom prst="roundRect">
            <a:avLst>
              <a:gd name="adj" fmla="val 12903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67610" y="3714012"/>
            <a:ext cx="1710632" cy="7402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</a:rPr>
              <a:t>STARTUP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315036" y="3526339"/>
            <a:ext cx="1939735" cy="109270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2" name="Text 10"/>
          <p:cNvSpPr/>
          <p:nvPr/>
        </p:nvSpPr>
        <p:spPr>
          <a:xfrm>
            <a:off x="2349698" y="3702582"/>
            <a:ext cx="1710632" cy="7402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</a:rPr>
              <a:t>Homing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77014" y="3526339"/>
            <a:ext cx="1939735" cy="109270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4" name="Text 12"/>
          <p:cNvSpPr/>
          <p:nvPr/>
        </p:nvSpPr>
        <p:spPr>
          <a:xfrm>
            <a:off x="4491565" y="3702582"/>
            <a:ext cx="1710632" cy="7402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GPS Task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31301" y="3543787"/>
            <a:ext cx="1939735" cy="109270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550796" y="3720030"/>
            <a:ext cx="1710632" cy="7402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Synced/timeout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72475" y="3543787"/>
            <a:ext cx="1939735" cy="1092708"/>
          </a:xfrm>
          <a:prstGeom prst="roundRect">
            <a:avLst>
              <a:gd name="adj" fmla="val 12903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8587026" y="3720030"/>
            <a:ext cx="1710632" cy="7402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Restore saved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</a:rPr>
              <a:t>state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" y="613562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EEF2F7"/>
          </a:solidFill>
          <a:ln w="1270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713232" y="622706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app_st67w6x.c  ·  app_freertos.c  ·  solar_app.c  ·  movement_task.cpp  ·  state_machine.c</a:t>
            </a:r>
            <a:endParaRPr lang="en-US" sz="82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BB3C58E7-790E-EE57-0844-2D41EFAE8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0"/>
            <a:ext cx="12191695" cy="68188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Overall operating flow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use: from user connection to physical movement.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4983480" cy="1792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user connects to the STM32 Soft-AP.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web UI refreshes status through /status.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Buttons and forms call HTTP endpoints.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Endpoints validate the mode and publish events.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FSM updates targets and movementTask executes them.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62179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7665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button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23974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678838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26157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681021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fsmPostEvent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28339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683203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fsmTask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052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68538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requestMove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411480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routines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4370832"/>
            <a:ext cx="4983480" cy="1024128"/>
          </a:xfrm>
          <a:prstGeom prst="roundRect">
            <a:avLst>
              <a:gd name="adj" fmla="val 8929"/>
            </a:avLst>
          </a:prstGeom>
          <a:solidFill>
            <a:srgbClr val="F1F7FA"/>
          </a:solidFill>
          <a:ln w="12700">
            <a:solidFill>
              <a:srgbClr val="CDEA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795528" y="4517136"/>
            <a:ext cx="458114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/status centralizes live status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/manual_goto → submit_manual_goto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/eph_submit → submit_eph_input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548640" y="613562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EEF2F7"/>
          </a:solidFill>
          <a:ln w="1270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713232" y="622706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httpserver.c  ·  state_machine.c  ·  manual_mode.cpp  ·  eph_input_mode.cpp</a:t>
            </a:r>
            <a:endParaRPr lang="en-US" sz="820" dirty="0"/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590F160B-DCEA-0900-20D9-F9E022A07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1755649"/>
            <a:ext cx="6381980" cy="35579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3F8AA98-757B-431C-9707-115630462B55}" type="slidenum">
              <a:rPr lang="es-ES_tradnl" smtClean="0"/>
              <a:pPr>
                <a:defRPr/>
              </a:pPr>
              <a:t>8</a:t>
            </a:fld>
            <a:endParaRPr lang="es-ES_tradnl" dirty="0"/>
          </a:p>
        </p:txBody>
      </p:sp>
      <p:sp>
        <p:nvSpPr>
          <p:cNvPr id="7" name="Nube 6"/>
          <p:cNvSpPr/>
          <p:nvPr/>
        </p:nvSpPr>
        <p:spPr bwMode="auto">
          <a:xfrm>
            <a:off x="5171042" y="818032"/>
            <a:ext cx="2376264" cy="1440160"/>
          </a:xfrm>
          <a:prstGeom prst="cloud">
            <a:avLst/>
          </a:prstGeom>
          <a:solidFill>
            <a:schemeClr val="accent3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40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5337520" y="1122615"/>
            <a:ext cx="1944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dirty="0"/>
              <a:t>Web</a:t>
            </a:r>
            <a:br>
              <a:rPr lang="es-ES" sz="2200" dirty="0"/>
            </a:br>
            <a:r>
              <a:rPr lang="es-ES" sz="2200" dirty="0"/>
              <a:t>Server</a:t>
            </a:r>
          </a:p>
        </p:txBody>
      </p:sp>
      <p:sp>
        <p:nvSpPr>
          <p:cNvPr id="9" name="Rectángulo redondeado 8"/>
          <p:cNvSpPr/>
          <p:nvPr/>
        </p:nvSpPr>
        <p:spPr bwMode="auto">
          <a:xfrm>
            <a:off x="8562226" y="3344500"/>
            <a:ext cx="1221432" cy="1207586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40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8186684" y="3717460"/>
            <a:ext cx="19442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dirty="0"/>
              <a:t>Web GUI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978" y="2831347"/>
            <a:ext cx="2944298" cy="2937272"/>
          </a:xfrm>
          <a:prstGeom prst="rect">
            <a:avLst/>
          </a:prstGeom>
        </p:spPr>
      </p:pic>
      <p:sp>
        <p:nvSpPr>
          <p:cNvPr id="12" name="Flecha abajo 11"/>
          <p:cNvSpPr/>
          <p:nvPr/>
        </p:nvSpPr>
        <p:spPr bwMode="auto">
          <a:xfrm rot="7924078">
            <a:off x="7517902" y="1756472"/>
            <a:ext cx="675828" cy="1909667"/>
          </a:xfrm>
          <a:prstGeom prst="down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40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202469" y="6282035"/>
            <a:ext cx="24152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dirty="0"/>
              <a:t>User interaction</a:t>
            </a:r>
          </a:p>
        </p:txBody>
      </p:sp>
      <p:sp>
        <p:nvSpPr>
          <p:cNvPr id="14" name="Flecha abajo 13"/>
          <p:cNvSpPr/>
          <p:nvPr/>
        </p:nvSpPr>
        <p:spPr bwMode="auto">
          <a:xfrm rot="2726525">
            <a:off x="4071683" y="1764239"/>
            <a:ext cx="661597" cy="2093526"/>
          </a:xfrm>
          <a:prstGeom prst="down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40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2" name="Cara sonriente 1"/>
          <p:cNvSpPr/>
          <p:nvPr/>
        </p:nvSpPr>
        <p:spPr bwMode="auto">
          <a:xfrm>
            <a:off x="8615654" y="5329725"/>
            <a:ext cx="1119019" cy="983104"/>
          </a:xfrm>
          <a:prstGeom prst="smileyFace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40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17" name="Flecha abajo 16"/>
          <p:cNvSpPr/>
          <p:nvPr/>
        </p:nvSpPr>
        <p:spPr bwMode="auto">
          <a:xfrm rot="10800000">
            <a:off x="8888757" y="4653827"/>
            <a:ext cx="547300" cy="544568"/>
          </a:xfrm>
          <a:prstGeom prst="down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40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8239860" y="2383027"/>
            <a:ext cx="17892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dirty="0"/>
              <a:t>(Requests)</a:t>
            </a:r>
          </a:p>
        </p:txBody>
      </p:sp>
      <p:sp>
        <p:nvSpPr>
          <p:cNvPr id="27" name="CuadroTexto 26"/>
          <p:cNvSpPr txBox="1"/>
          <p:nvPr/>
        </p:nvSpPr>
        <p:spPr>
          <a:xfrm>
            <a:off x="2754436" y="2042748"/>
            <a:ext cx="17892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dirty="0"/>
              <a:t>FSM Events</a:t>
            </a:r>
          </a:p>
        </p:txBody>
      </p:sp>
      <p:sp>
        <p:nvSpPr>
          <p:cNvPr id="5" name="Rectángulo redondeado 8">
            <a:extLst>
              <a:ext uri="{FF2B5EF4-FFF2-40B4-BE49-F238E27FC236}">
                <a16:creationId xmlns:a16="http://schemas.microsoft.com/office/drawing/2014/main" id="{37E1E108-DF69-4C9C-A441-B0486C005435}"/>
              </a:ext>
            </a:extLst>
          </p:cNvPr>
          <p:cNvSpPr/>
          <p:nvPr/>
        </p:nvSpPr>
        <p:spPr bwMode="auto">
          <a:xfrm>
            <a:off x="213166" y="5789860"/>
            <a:ext cx="1945835" cy="1060884"/>
          </a:xfrm>
          <a:prstGeom prst="roundRect">
            <a:avLst/>
          </a:prstGeom>
          <a:solidFill>
            <a:srgbClr val="F8FAF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40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102C682-F388-BF78-D8FC-3733E402F28C}"/>
              </a:ext>
            </a:extLst>
          </p:cNvPr>
          <p:cNvSpPr txBox="1"/>
          <p:nvPr/>
        </p:nvSpPr>
        <p:spPr>
          <a:xfrm>
            <a:off x="6640503" y="2000114"/>
            <a:ext cx="501831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200" dirty="0"/>
              <a:t>HTTP Endpoints</a:t>
            </a:r>
          </a:p>
        </p:txBody>
      </p:sp>
      <p:sp>
        <p:nvSpPr>
          <p:cNvPr id="23" name="Rectángulo redondeado 8">
            <a:extLst>
              <a:ext uri="{FF2B5EF4-FFF2-40B4-BE49-F238E27FC236}">
                <a16:creationId xmlns:a16="http://schemas.microsoft.com/office/drawing/2014/main" id="{A1AC2598-6AC0-791E-E96F-541F561DA17F}"/>
              </a:ext>
            </a:extLst>
          </p:cNvPr>
          <p:cNvSpPr/>
          <p:nvPr/>
        </p:nvSpPr>
        <p:spPr bwMode="auto">
          <a:xfrm>
            <a:off x="9436057" y="99031"/>
            <a:ext cx="2489917" cy="1207586"/>
          </a:xfrm>
          <a:prstGeom prst="roundRect">
            <a:avLst/>
          </a:prstGeom>
          <a:solidFill>
            <a:srgbClr val="F8FAF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40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16" name="CuadroTexto 15"/>
          <p:cNvSpPr txBox="1"/>
          <p:nvPr/>
        </p:nvSpPr>
        <p:spPr>
          <a:xfrm>
            <a:off x="864386" y="5789860"/>
            <a:ext cx="42946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200" dirty="0"/>
              <a:t>Enables </a:t>
            </a:r>
            <a:r>
              <a:rPr lang="es-ES" sz="2200" dirty="0" err="1"/>
              <a:t>configuration</a:t>
            </a:r>
            <a:r>
              <a:rPr lang="es-ES" sz="2200" dirty="0"/>
              <a:t> and movement modes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200" dirty="0"/>
              <a:t>Runs automatic tracking mode</a:t>
            </a:r>
            <a:endParaRPr lang="es-ES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115B21D-0A54-4C11-A505-0E6A6F5B1072}"/>
              </a:ext>
            </a:extLst>
          </p:cNvPr>
          <p:cNvSpPr txBox="1"/>
          <p:nvPr/>
        </p:nvSpPr>
        <p:spPr>
          <a:xfrm>
            <a:off x="1222458" y="4093248"/>
            <a:ext cx="17892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dirty="0"/>
              <a:t>FSM</a:t>
            </a:r>
          </a:p>
        </p:txBody>
      </p:sp>
      <p:sp>
        <p:nvSpPr>
          <p:cNvPr id="28" name="Flecha abajo 13">
            <a:extLst>
              <a:ext uri="{FF2B5EF4-FFF2-40B4-BE49-F238E27FC236}">
                <a16:creationId xmlns:a16="http://schemas.microsoft.com/office/drawing/2014/main" id="{D1285824-181D-CD18-50B3-3061D1AFD103}"/>
              </a:ext>
            </a:extLst>
          </p:cNvPr>
          <p:cNvSpPr/>
          <p:nvPr/>
        </p:nvSpPr>
        <p:spPr bwMode="auto">
          <a:xfrm rot="16529704">
            <a:off x="4045998" y="3725570"/>
            <a:ext cx="438496" cy="1295935"/>
          </a:xfrm>
          <a:prstGeom prst="down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40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30" name="Flecha abajo 13">
            <a:extLst>
              <a:ext uri="{FF2B5EF4-FFF2-40B4-BE49-F238E27FC236}">
                <a16:creationId xmlns:a16="http://schemas.microsoft.com/office/drawing/2014/main" id="{8678BF6F-C829-5762-E119-2915A5684BEF}"/>
              </a:ext>
            </a:extLst>
          </p:cNvPr>
          <p:cNvSpPr/>
          <p:nvPr/>
        </p:nvSpPr>
        <p:spPr bwMode="auto">
          <a:xfrm>
            <a:off x="5754495" y="2383027"/>
            <a:ext cx="496008" cy="1798457"/>
          </a:xfrm>
          <a:prstGeom prst="down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40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63A73C38-BE3A-EF9B-B956-2CF762D69532}"/>
              </a:ext>
            </a:extLst>
          </p:cNvPr>
          <p:cNvSpPr/>
          <p:nvPr/>
        </p:nvSpPr>
        <p:spPr bwMode="auto">
          <a:xfrm>
            <a:off x="5050131" y="4313983"/>
            <a:ext cx="1817065" cy="789861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200" dirty="0">
                <a:solidFill>
                  <a:srgbClr val="000000"/>
                </a:solidFill>
                <a:latin typeface="Arial" charset="0"/>
                <a:ea typeface="ＭＳ Ｐゴシック" charset="0"/>
                <a:cs typeface="Geneva" charset="0"/>
              </a:rPr>
              <a:t>Movement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200" dirty="0">
                <a:solidFill>
                  <a:srgbClr val="000000"/>
                </a:solidFill>
                <a:latin typeface="Arial" charset="0"/>
                <a:ea typeface="ＭＳ Ｐゴシック" charset="0"/>
                <a:cs typeface="Geneva" charset="0"/>
              </a:rPr>
              <a:t>Task</a:t>
            </a:r>
          </a:p>
        </p:txBody>
      </p:sp>
      <p:sp>
        <p:nvSpPr>
          <p:cNvPr id="3" name="Flecha: curvada hacia arriba 2">
            <a:extLst>
              <a:ext uri="{FF2B5EF4-FFF2-40B4-BE49-F238E27FC236}">
                <a16:creationId xmlns:a16="http://schemas.microsoft.com/office/drawing/2014/main" id="{45E9C807-0BD7-A80F-2675-82FA4B5FC491}"/>
              </a:ext>
            </a:extLst>
          </p:cNvPr>
          <p:cNvSpPr/>
          <p:nvPr/>
        </p:nvSpPr>
        <p:spPr>
          <a:xfrm rot="16200000">
            <a:off x="9583670" y="3702621"/>
            <a:ext cx="956607" cy="491342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1959A21-1860-B4C3-9E1C-7EFCDD5CF59B}"/>
              </a:ext>
            </a:extLst>
          </p:cNvPr>
          <p:cNvSpPr txBox="1"/>
          <p:nvPr/>
        </p:nvSpPr>
        <p:spPr>
          <a:xfrm>
            <a:off x="9881498" y="3763626"/>
            <a:ext cx="17892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dirty="0"/>
              <a:t>/status</a:t>
            </a:r>
          </a:p>
        </p:txBody>
      </p:sp>
    </p:spTree>
    <p:extLst>
      <p:ext uri="{BB962C8B-B14F-4D97-AF65-F5344CB8AC3E}">
        <p14:creationId xmlns:p14="http://schemas.microsoft.com/office/powerpoint/2010/main" val="3942632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" name="Text 1"/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06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Main states and modes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FSM as the layer that prevents incompatible actions from being mixed.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7" name="Text 5"/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5193792" cy="1792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STARTUP: homing and GPS sync before transition to the saved state</a:t>
            </a:r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STDBY: idle state and safe configuration.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AUTO_MODE: tracking based on configuration and date/time.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MANUAL: move to X/Z targets.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EPH_INPUT: uses azimuth/elevation.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Event-driven transitions; state persisted in flash.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621792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0" name="Text 8"/>
          <p:cNvSpPr/>
          <p:nvPr/>
        </p:nvSpPr>
        <p:spPr>
          <a:xfrm>
            <a:off x="676656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STDBY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74520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2" name="Text 10"/>
          <p:cNvSpPr/>
          <p:nvPr/>
        </p:nvSpPr>
        <p:spPr>
          <a:xfrm>
            <a:off x="1929384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AUTO_MODE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27248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4" name="Text 12"/>
          <p:cNvSpPr/>
          <p:nvPr/>
        </p:nvSpPr>
        <p:spPr>
          <a:xfrm>
            <a:off x="3182112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79976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6" name="Text 14"/>
          <p:cNvSpPr/>
          <p:nvPr/>
        </p:nvSpPr>
        <p:spPr>
          <a:xfrm>
            <a:off x="4434840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EPH_INPUT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411480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routines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4370832"/>
            <a:ext cx="4983480" cy="1024128"/>
          </a:xfrm>
          <a:prstGeom prst="roundRect">
            <a:avLst>
              <a:gd name="adj" fmla="val 8929"/>
            </a:avLst>
          </a:prstGeom>
          <a:solidFill>
            <a:srgbClr val="F1F7FA"/>
          </a:solidFill>
          <a:ln w="12700">
            <a:solidFill>
              <a:srgbClr val="CDEAF0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9" name="Text 17"/>
          <p:cNvSpPr/>
          <p:nvPr/>
        </p:nvSpPr>
        <p:spPr>
          <a:xfrm>
            <a:off x="795528" y="4517136"/>
            <a:ext cx="458114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fsmPostEvent() from HTTP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fsmProcess() changes state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saveState() persists the transition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5989320" y="493776"/>
            <a:ext cx="5394960" cy="5184648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4" name="Shape 22"/>
          <p:cNvSpPr/>
          <p:nvPr/>
        </p:nvSpPr>
        <p:spPr>
          <a:xfrm>
            <a:off x="548640" y="613562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EEF2F7"/>
          </a:solidFill>
          <a:ln w="1270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5" name="Text 23"/>
          <p:cNvSpPr/>
          <p:nvPr/>
        </p:nvSpPr>
        <p:spPr>
          <a:xfrm>
            <a:off x="713232" y="622706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state_machine.h  ·  state_machine.c  ·  httpserver.c  ·  storage.c</a:t>
            </a:r>
            <a:endParaRPr lang="en-US" sz="820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839526A5-43EE-1F13-F5B6-2E2A9A1DFD0F}"/>
              </a:ext>
            </a:extLst>
          </p:cNvPr>
          <p:cNvSpPr/>
          <p:nvPr/>
        </p:nvSpPr>
        <p:spPr>
          <a:xfrm>
            <a:off x="7909560" y="850393"/>
            <a:ext cx="1119341" cy="5577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Startup</a:t>
            </a:r>
          </a:p>
        </p:txBody>
      </p:sp>
      <p:sp>
        <p:nvSpPr>
          <p:cNvPr id="27" name="Flecha: hacia abajo 26">
            <a:extLst>
              <a:ext uri="{FF2B5EF4-FFF2-40B4-BE49-F238E27FC236}">
                <a16:creationId xmlns:a16="http://schemas.microsoft.com/office/drawing/2014/main" id="{E56454E3-FB0A-D0D8-D2C5-6AA31292B4C2}"/>
              </a:ext>
            </a:extLst>
          </p:cNvPr>
          <p:cNvSpPr/>
          <p:nvPr/>
        </p:nvSpPr>
        <p:spPr>
          <a:xfrm>
            <a:off x="8368310" y="1467133"/>
            <a:ext cx="198066" cy="524735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7359D55-2ADF-747D-0902-8CD7AC9861DB}"/>
              </a:ext>
            </a:extLst>
          </p:cNvPr>
          <p:cNvSpPr/>
          <p:nvPr/>
        </p:nvSpPr>
        <p:spPr>
          <a:xfrm>
            <a:off x="7909559" y="2050175"/>
            <a:ext cx="1119341" cy="5577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Standby</a:t>
            </a:r>
            <a:endParaRPr lang="es-ES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97A930A1-B1C7-7B44-C132-4077485B4F77}"/>
              </a:ext>
            </a:extLst>
          </p:cNvPr>
          <p:cNvSpPr/>
          <p:nvPr/>
        </p:nvSpPr>
        <p:spPr>
          <a:xfrm>
            <a:off x="6168427" y="3634740"/>
            <a:ext cx="1119341" cy="5577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MANUAL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A9822D8A-7F41-5EB8-D65E-45DBA17232DC}"/>
              </a:ext>
            </a:extLst>
          </p:cNvPr>
          <p:cNvSpPr/>
          <p:nvPr/>
        </p:nvSpPr>
        <p:spPr>
          <a:xfrm>
            <a:off x="7468491" y="4907608"/>
            <a:ext cx="2115703" cy="5577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AUTO_MODE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A8E406BC-091D-3088-00AD-E7493F58C88C}"/>
              </a:ext>
            </a:extLst>
          </p:cNvPr>
          <p:cNvSpPr/>
          <p:nvPr/>
        </p:nvSpPr>
        <p:spPr>
          <a:xfrm>
            <a:off x="9908323" y="3587156"/>
            <a:ext cx="1357085" cy="5577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EPH_INPUT</a:t>
            </a:r>
          </a:p>
        </p:txBody>
      </p:sp>
      <p:sp>
        <p:nvSpPr>
          <p:cNvPr id="37" name="Flecha: hacia abajo 36">
            <a:extLst>
              <a:ext uri="{FF2B5EF4-FFF2-40B4-BE49-F238E27FC236}">
                <a16:creationId xmlns:a16="http://schemas.microsoft.com/office/drawing/2014/main" id="{4B0F9E02-03E8-CE07-1BC4-7A2CA53C766B}"/>
              </a:ext>
            </a:extLst>
          </p:cNvPr>
          <p:cNvSpPr/>
          <p:nvPr/>
        </p:nvSpPr>
        <p:spPr>
          <a:xfrm rot="2691347">
            <a:off x="7217002" y="2278501"/>
            <a:ext cx="198066" cy="146807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76EAFEC2-3EEC-9930-8BDE-D60F6A3C0F1E}"/>
              </a:ext>
            </a:extLst>
          </p:cNvPr>
          <p:cNvSpPr txBox="1"/>
          <p:nvPr/>
        </p:nvSpPr>
        <p:spPr>
          <a:xfrm>
            <a:off x="6526928" y="2694836"/>
            <a:ext cx="805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begin</a:t>
            </a:r>
            <a:endParaRPr lang="es-ES" dirty="0"/>
          </a:p>
        </p:txBody>
      </p:sp>
      <p:sp>
        <p:nvSpPr>
          <p:cNvPr id="40" name="Flecha: hacia abajo 39">
            <a:extLst>
              <a:ext uri="{FF2B5EF4-FFF2-40B4-BE49-F238E27FC236}">
                <a16:creationId xmlns:a16="http://schemas.microsoft.com/office/drawing/2014/main" id="{4D11F81D-F8B4-9069-C6EB-044E89980E19}"/>
              </a:ext>
            </a:extLst>
          </p:cNvPr>
          <p:cNvSpPr/>
          <p:nvPr/>
        </p:nvSpPr>
        <p:spPr>
          <a:xfrm rot="13579736">
            <a:off x="7521294" y="2525346"/>
            <a:ext cx="198066" cy="1200072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914D4A2-AABF-0208-F492-8D1AB3B4726B}"/>
              </a:ext>
            </a:extLst>
          </p:cNvPr>
          <p:cNvSpPr txBox="1"/>
          <p:nvPr/>
        </p:nvSpPr>
        <p:spPr>
          <a:xfrm>
            <a:off x="9019158" y="3210814"/>
            <a:ext cx="805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end</a:t>
            </a:r>
            <a:endParaRPr lang="es-ES" dirty="0"/>
          </a:p>
        </p:txBody>
      </p:sp>
      <p:sp>
        <p:nvSpPr>
          <p:cNvPr id="44" name="Flecha: hacia abajo 43">
            <a:extLst>
              <a:ext uri="{FF2B5EF4-FFF2-40B4-BE49-F238E27FC236}">
                <a16:creationId xmlns:a16="http://schemas.microsoft.com/office/drawing/2014/main" id="{13E020EF-251C-1F31-7CDB-2BBE2CD10CDF}"/>
              </a:ext>
            </a:extLst>
          </p:cNvPr>
          <p:cNvSpPr/>
          <p:nvPr/>
        </p:nvSpPr>
        <p:spPr>
          <a:xfrm rot="18730872">
            <a:off x="9608008" y="2235898"/>
            <a:ext cx="198066" cy="146807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134F2F01-BCCD-046D-DDB0-6C0504A9F09F}"/>
              </a:ext>
            </a:extLst>
          </p:cNvPr>
          <p:cNvSpPr txBox="1"/>
          <p:nvPr/>
        </p:nvSpPr>
        <p:spPr>
          <a:xfrm>
            <a:off x="9640037" y="2567599"/>
            <a:ext cx="805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begin</a:t>
            </a:r>
            <a:endParaRPr lang="es-ES" dirty="0"/>
          </a:p>
        </p:txBody>
      </p:sp>
      <p:sp>
        <p:nvSpPr>
          <p:cNvPr id="48" name="Flecha: hacia abajo 47">
            <a:extLst>
              <a:ext uri="{FF2B5EF4-FFF2-40B4-BE49-F238E27FC236}">
                <a16:creationId xmlns:a16="http://schemas.microsoft.com/office/drawing/2014/main" id="{8DEFB497-F2C9-0698-469F-DE882650A784}"/>
              </a:ext>
            </a:extLst>
          </p:cNvPr>
          <p:cNvSpPr/>
          <p:nvPr/>
        </p:nvSpPr>
        <p:spPr>
          <a:xfrm rot="8057728">
            <a:off x="9322352" y="2562139"/>
            <a:ext cx="198066" cy="1200072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Flecha: arriba y abajo 50">
            <a:extLst>
              <a:ext uri="{FF2B5EF4-FFF2-40B4-BE49-F238E27FC236}">
                <a16:creationId xmlns:a16="http://schemas.microsoft.com/office/drawing/2014/main" id="{8BEA8698-ABF1-9F8F-D067-4CD7ADDF142B}"/>
              </a:ext>
            </a:extLst>
          </p:cNvPr>
          <p:cNvSpPr/>
          <p:nvPr/>
        </p:nvSpPr>
        <p:spPr>
          <a:xfrm>
            <a:off x="8409936" y="2732532"/>
            <a:ext cx="232814" cy="2157984"/>
          </a:xfrm>
          <a:prstGeom prst="up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5659A5CB-EAB8-A98B-F44E-07B93B366769}"/>
              </a:ext>
            </a:extLst>
          </p:cNvPr>
          <p:cNvSpPr txBox="1"/>
          <p:nvPr/>
        </p:nvSpPr>
        <p:spPr>
          <a:xfrm>
            <a:off x="7492864" y="3123021"/>
            <a:ext cx="805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end</a:t>
            </a:r>
            <a:endParaRPr lang="es-ES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D6DF165E-0095-6A71-5946-0CFE61A99600}"/>
              </a:ext>
            </a:extLst>
          </p:cNvPr>
          <p:cNvSpPr txBox="1"/>
          <p:nvPr/>
        </p:nvSpPr>
        <p:spPr>
          <a:xfrm>
            <a:off x="8584450" y="3938518"/>
            <a:ext cx="11089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Toggle</a:t>
            </a:r>
            <a:r>
              <a:rPr lang="es-ES" dirty="0"/>
              <a:t> &amp;&amp; </a:t>
            </a:r>
            <a:r>
              <a:rPr lang="es-ES" dirty="0" err="1"/>
              <a:t>auto_on</a:t>
            </a:r>
            <a:endParaRPr lang="es-ES" dirty="0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33EB0B2A-C4C4-D1F3-B560-E9E623DDDAEF}"/>
              </a:ext>
            </a:extLst>
          </p:cNvPr>
          <p:cNvSpPr txBox="1"/>
          <p:nvPr/>
        </p:nvSpPr>
        <p:spPr>
          <a:xfrm>
            <a:off x="8555733" y="1377642"/>
            <a:ext cx="2302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gps_synced</a:t>
            </a:r>
            <a:r>
              <a:rPr lang="es-ES" dirty="0"/>
              <a:t> || </a:t>
            </a:r>
            <a:r>
              <a:rPr lang="es-ES" dirty="0" err="1"/>
              <a:t>timeout</a:t>
            </a:r>
            <a:endParaRPr lang="es-E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" name="Text 1"/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Automatic routines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parts run by themselves, at what period, and under which conditions.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7" name="Text 5"/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4983480" cy="1792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AUTO_MODE, autoMode() runs every 5 s.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RTC is saved periodically to preserve time.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startup, GPS sync is requested after bringing up the Soft-AP.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GPS is powered only while a synchronization is pending.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moves only if the target changes by at least 0.5 mm.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62179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0" name="Text 8"/>
          <p:cNvSpPr/>
          <p:nvPr/>
        </p:nvSpPr>
        <p:spPr>
          <a:xfrm>
            <a:off x="67665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RTC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23974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2" name="Text 10"/>
          <p:cNvSpPr/>
          <p:nvPr/>
        </p:nvSpPr>
        <p:spPr>
          <a:xfrm>
            <a:off x="1678838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26157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4" name="Text 12"/>
          <p:cNvSpPr/>
          <p:nvPr/>
        </p:nvSpPr>
        <p:spPr>
          <a:xfrm>
            <a:off x="2681021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28339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6" name="Text 14"/>
          <p:cNvSpPr/>
          <p:nvPr/>
        </p:nvSpPr>
        <p:spPr>
          <a:xfrm>
            <a:off x="3683203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052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8" name="Text 16"/>
          <p:cNvSpPr/>
          <p:nvPr/>
        </p:nvSpPr>
        <p:spPr>
          <a:xfrm>
            <a:off x="468538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X/Z target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411480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routines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4370832"/>
            <a:ext cx="4983480" cy="1024128"/>
          </a:xfrm>
          <a:prstGeom prst="roundRect">
            <a:avLst>
              <a:gd name="adj" fmla="val 8929"/>
            </a:avLst>
          </a:prstGeom>
          <a:solidFill>
            <a:srgbClr val="F1F7FA"/>
          </a:solidFill>
          <a:ln w="12700">
            <a:solidFill>
              <a:srgbClr val="CDEAF0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1" name="Text 19"/>
          <p:cNvSpPr/>
          <p:nvPr/>
        </p:nvSpPr>
        <p:spPr>
          <a:xfrm>
            <a:off x="795528" y="4517136"/>
            <a:ext cx="458114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autoMode() updates solar inputs and targets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GPS_Task_RequestTimeSync()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DisableSuppressTicksAndSleep() during calculation/movement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5650991" y="1261872"/>
            <a:ext cx="6540703" cy="4526280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6" name="Shape 24"/>
          <p:cNvSpPr/>
          <p:nvPr/>
        </p:nvSpPr>
        <p:spPr>
          <a:xfrm>
            <a:off x="548640" y="613562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EEF2F7"/>
          </a:solidFill>
          <a:ln w="1270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7" name="Text 25"/>
          <p:cNvSpPr/>
          <p:nvPr/>
        </p:nvSpPr>
        <p:spPr>
          <a:xfrm>
            <a:off x="713232" y="622706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state_machine.c  ·  autoMode.cpp  ·  spa_func.cpp  ·  gps.cpp  ·  main_app.c</a:t>
            </a:r>
            <a:endParaRPr lang="en-US" sz="820" dirty="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D6DDF9A4-67CA-D1BD-7F07-D5C1DF625AC9}"/>
              </a:ext>
            </a:extLst>
          </p:cNvPr>
          <p:cNvSpPr/>
          <p:nvPr/>
        </p:nvSpPr>
        <p:spPr>
          <a:xfrm>
            <a:off x="5831698" y="1853066"/>
            <a:ext cx="1323642" cy="49237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Automode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9BBA7B47-E193-F0CC-4AF2-499408E08D91}"/>
              </a:ext>
            </a:extLst>
          </p:cNvPr>
          <p:cNvSpPr txBox="1"/>
          <p:nvPr/>
        </p:nvSpPr>
        <p:spPr>
          <a:xfrm>
            <a:off x="6123999" y="1496944"/>
            <a:ext cx="805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state</a:t>
            </a:r>
            <a:endParaRPr lang="es-ES" dirty="0"/>
          </a:p>
        </p:txBody>
      </p:sp>
      <p:sp>
        <p:nvSpPr>
          <p:cNvPr id="34" name="Flecha: hacia abajo 33">
            <a:extLst>
              <a:ext uri="{FF2B5EF4-FFF2-40B4-BE49-F238E27FC236}">
                <a16:creationId xmlns:a16="http://schemas.microsoft.com/office/drawing/2014/main" id="{4C7860CC-CFBB-803C-6C87-2D40C96550FE}"/>
              </a:ext>
            </a:extLst>
          </p:cNvPr>
          <p:cNvSpPr/>
          <p:nvPr/>
        </p:nvSpPr>
        <p:spPr>
          <a:xfrm rot="16200000">
            <a:off x="7511271" y="1735727"/>
            <a:ext cx="198066" cy="727047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734B8B9F-8DF7-E130-3F7B-D720EC5FBB51}"/>
              </a:ext>
            </a:extLst>
          </p:cNvPr>
          <p:cNvSpPr/>
          <p:nvPr/>
        </p:nvSpPr>
        <p:spPr>
          <a:xfrm>
            <a:off x="8046979" y="1853066"/>
            <a:ext cx="1323642" cy="49237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autoMode</a:t>
            </a:r>
            <a:r>
              <a:rPr lang="es-ES" dirty="0"/>
              <a:t>()</a:t>
            </a:r>
          </a:p>
        </p:txBody>
      </p:sp>
      <p:sp>
        <p:nvSpPr>
          <p:cNvPr id="38" name="Flecha: curvada hacia arriba 37">
            <a:extLst>
              <a:ext uri="{FF2B5EF4-FFF2-40B4-BE49-F238E27FC236}">
                <a16:creationId xmlns:a16="http://schemas.microsoft.com/office/drawing/2014/main" id="{E52F812D-052A-F334-DF8F-F2DA9A2B87E4}"/>
              </a:ext>
            </a:extLst>
          </p:cNvPr>
          <p:cNvSpPr/>
          <p:nvPr/>
        </p:nvSpPr>
        <p:spPr>
          <a:xfrm rot="10800000">
            <a:off x="8197523" y="1316004"/>
            <a:ext cx="956607" cy="491342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304ADAA1-BBD8-0FA4-8553-4BEFABAE5DB3}"/>
              </a:ext>
            </a:extLst>
          </p:cNvPr>
          <p:cNvSpPr txBox="1"/>
          <p:nvPr/>
        </p:nvSpPr>
        <p:spPr>
          <a:xfrm>
            <a:off x="8410785" y="1261872"/>
            <a:ext cx="17892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dirty="0"/>
              <a:t>5 s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5B8E8C2A-33B3-4425-5F00-E8EA08B69735}"/>
              </a:ext>
            </a:extLst>
          </p:cNvPr>
          <p:cNvSpPr/>
          <p:nvPr/>
        </p:nvSpPr>
        <p:spPr>
          <a:xfrm>
            <a:off x="5831698" y="2780596"/>
            <a:ext cx="1323642" cy="49237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autoMode</a:t>
            </a:r>
            <a:r>
              <a:rPr lang="es-ES" dirty="0"/>
              <a:t>()</a:t>
            </a:r>
          </a:p>
        </p:txBody>
      </p:sp>
      <p:sp>
        <p:nvSpPr>
          <p:cNvPr id="44" name="Flecha: hacia abajo 43">
            <a:extLst>
              <a:ext uri="{FF2B5EF4-FFF2-40B4-BE49-F238E27FC236}">
                <a16:creationId xmlns:a16="http://schemas.microsoft.com/office/drawing/2014/main" id="{B896B733-C15B-502E-BB7D-E153B234FDEE}"/>
              </a:ext>
            </a:extLst>
          </p:cNvPr>
          <p:cNvSpPr/>
          <p:nvPr/>
        </p:nvSpPr>
        <p:spPr>
          <a:xfrm rot="16200000">
            <a:off x="7437734" y="2736792"/>
            <a:ext cx="198066" cy="579977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EF16D86C-89C2-B6F5-359D-7A6A2C961DC6}"/>
              </a:ext>
            </a:extLst>
          </p:cNvPr>
          <p:cNvSpPr/>
          <p:nvPr/>
        </p:nvSpPr>
        <p:spPr>
          <a:xfrm>
            <a:off x="7918193" y="2592324"/>
            <a:ext cx="4135262" cy="83667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/>
              <a:t>updateSPAInputsFromTime</a:t>
            </a:r>
            <a:r>
              <a:rPr lang="es-ES" dirty="0"/>
              <a:t>(</a:t>
            </a:r>
            <a:r>
              <a:rPr lang="es-ES" b="1" dirty="0" err="1"/>
              <a:t>struct</a:t>
            </a:r>
            <a:r>
              <a:rPr lang="es-ES" dirty="0"/>
              <a:t> </a:t>
            </a:r>
            <a:r>
              <a:rPr lang="es-ES" dirty="0" err="1"/>
              <a:t>tm</a:t>
            </a:r>
            <a:r>
              <a:rPr lang="es-ES" dirty="0"/>
              <a:t> *</a:t>
            </a:r>
            <a:r>
              <a:rPr lang="es-ES" dirty="0" err="1"/>
              <a:t>time_info</a:t>
            </a:r>
            <a:r>
              <a:rPr lang="es-ES" dirty="0"/>
              <a:t>, </a:t>
            </a:r>
            <a:r>
              <a:rPr lang="es-ES" dirty="0" err="1"/>
              <a:t>SPAInputs</a:t>
            </a:r>
            <a:r>
              <a:rPr lang="es-ES" dirty="0"/>
              <a:t> *spa)</a:t>
            </a:r>
          </a:p>
        </p:txBody>
      </p:sp>
      <p:sp>
        <p:nvSpPr>
          <p:cNvPr id="48" name="Flecha: hacia abajo 47">
            <a:extLst>
              <a:ext uri="{FF2B5EF4-FFF2-40B4-BE49-F238E27FC236}">
                <a16:creationId xmlns:a16="http://schemas.microsoft.com/office/drawing/2014/main" id="{CB704027-1D86-C169-E9C8-07F854974DA1}"/>
              </a:ext>
            </a:extLst>
          </p:cNvPr>
          <p:cNvSpPr/>
          <p:nvPr/>
        </p:nvSpPr>
        <p:spPr>
          <a:xfrm>
            <a:off x="11004746" y="3520441"/>
            <a:ext cx="198066" cy="466344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7003EFE6-B4ED-B292-A9D8-985155B8CD9E}"/>
              </a:ext>
            </a:extLst>
          </p:cNvPr>
          <p:cNvSpPr/>
          <p:nvPr/>
        </p:nvSpPr>
        <p:spPr>
          <a:xfrm>
            <a:off x="10485810" y="4059936"/>
            <a:ext cx="1235937" cy="53965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/>
              <a:t>SPA_f</a:t>
            </a:r>
            <a:r>
              <a:rPr lang="es-ES" b="1" dirty="0"/>
              <a:t>()</a:t>
            </a:r>
            <a:endParaRPr lang="es-ES" dirty="0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E5E4E807-2C43-2025-8BAB-B28639C8429A}"/>
              </a:ext>
            </a:extLst>
          </p:cNvPr>
          <p:cNvSpPr/>
          <p:nvPr/>
        </p:nvSpPr>
        <p:spPr>
          <a:xfrm>
            <a:off x="8597973" y="4058737"/>
            <a:ext cx="1358325" cy="53965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/>
              <a:t>aoicalc_f</a:t>
            </a:r>
            <a:r>
              <a:rPr lang="es-ES" b="1" dirty="0"/>
              <a:t>()</a:t>
            </a:r>
            <a:endParaRPr lang="es-ES" dirty="0"/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A5057480-012D-07B8-AD1D-143547678A0F}"/>
              </a:ext>
            </a:extLst>
          </p:cNvPr>
          <p:cNvSpPr/>
          <p:nvPr/>
        </p:nvSpPr>
        <p:spPr>
          <a:xfrm>
            <a:off x="5961551" y="4058737"/>
            <a:ext cx="1870343" cy="53965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/>
              <a:t>Interpolation_f</a:t>
            </a:r>
            <a:r>
              <a:rPr lang="es-ES" b="1" dirty="0"/>
              <a:t>()</a:t>
            </a:r>
            <a:endParaRPr lang="es-ES" dirty="0"/>
          </a:p>
        </p:txBody>
      </p:sp>
      <p:sp>
        <p:nvSpPr>
          <p:cNvPr id="56" name="Flecha: hacia abajo 55">
            <a:extLst>
              <a:ext uri="{FF2B5EF4-FFF2-40B4-BE49-F238E27FC236}">
                <a16:creationId xmlns:a16="http://schemas.microsoft.com/office/drawing/2014/main" id="{F18C986E-8831-D703-ABC8-D2872C9BE357}"/>
              </a:ext>
            </a:extLst>
          </p:cNvPr>
          <p:cNvSpPr/>
          <p:nvPr/>
        </p:nvSpPr>
        <p:spPr>
          <a:xfrm rot="5400000">
            <a:off x="10136157" y="4110228"/>
            <a:ext cx="198066" cy="466344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8" name="Flecha: hacia abajo 57">
            <a:extLst>
              <a:ext uri="{FF2B5EF4-FFF2-40B4-BE49-F238E27FC236}">
                <a16:creationId xmlns:a16="http://schemas.microsoft.com/office/drawing/2014/main" id="{775117A6-4FE7-F3CD-F239-409A7B0176E6}"/>
              </a:ext>
            </a:extLst>
          </p:cNvPr>
          <p:cNvSpPr/>
          <p:nvPr/>
        </p:nvSpPr>
        <p:spPr>
          <a:xfrm rot="5400000">
            <a:off x="8061931" y="4030897"/>
            <a:ext cx="198066" cy="62324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0" name="Flecha: hacia abajo 59">
            <a:extLst>
              <a:ext uri="{FF2B5EF4-FFF2-40B4-BE49-F238E27FC236}">
                <a16:creationId xmlns:a16="http://schemas.microsoft.com/office/drawing/2014/main" id="{16CA7167-BC32-978D-EC92-F1C4F03D6596}"/>
              </a:ext>
            </a:extLst>
          </p:cNvPr>
          <p:cNvSpPr/>
          <p:nvPr/>
        </p:nvSpPr>
        <p:spPr>
          <a:xfrm>
            <a:off x="6187594" y="4675957"/>
            <a:ext cx="198066" cy="466344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5866B10F-2E49-F493-C739-9921EA356A99}"/>
              </a:ext>
            </a:extLst>
          </p:cNvPr>
          <p:cNvSpPr/>
          <p:nvPr/>
        </p:nvSpPr>
        <p:spPr>
          <a:xfrm>
            <a:off x="5961550" y="5160445"/>
            <a:ext cx="1870343" cy="53965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/>
              <a:t>requestMove</a:t>
            </a:r>
            <a:r>
              <a:rPr lang="es-ES" b="1" dirty="0"/>
              <a:t>()</a:t>
            </a:r>
            <a:endParaRPr lang="es-ES" dirty="0"/>
          </a:p>
        </p:txBody>
      </p: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5E994455-C7D3-ECB9-FC3E-2333BA5457B0}"/>
              </a:ext>
            </a:extLst>
          </p:cNvPr>
          <p:cNvCxnSpPr>
            <a:cxnSpLocks/>
          </p:cNvCxnSpPr>
          <p:nvPr/>
        </p:nvCxnSpPr>
        <p:spPr>
          <a:xfrm>
            <a:off x="8197523" y="3794760"/>
            <a:ext cx="0" cy="449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4A856A0D-0A69-D2ED-F948-E9524F650183}"/>
              </a:ext>
            </a:extLst>
          </p:cNvPr>
          <p:cNvCxnSpPr>
            <a:cxnSpLocks/>
          </p:cNvCxnSpPr>
          <p:nvPr/>
        </p:nvCxnSpPr>
        <p:spPr>
          <a:xfrm>
            <a:off x="10235190" y="3887799"/>
            <a:ext cx="0" cy="3237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5FBF9F7D-7322-1A65-B39E-7DE37FF21E7B}"/>
              </a:ext>
            </a:extLst>
          </p:cNvPr>
          <p:cNvCxnSpPr>
            <a:cxnSpLocks/>
          </p:cNvCxnSpPr>
          <p:nvPr/>
        </p:nvCxnSpPr>
        <p:spPr>
          <a:xfrm flipH="1">
            <a:off x="6456210" y="4912052"/>
            <a:ext cx="2987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uadroTexto 70">
            <a:extLst>
              <a:ext uri="{FF2B5EF4-FFF2-40B4-BE49-F238E27FC236}">
                <a16:creationId xmlns:a16="http://schemas.microsoft.com/office/drawing/2014/main" id="{BAFD3126-F7F1-093C-9972-7EFBCDD26EA5}"/>
              </a:ext>
            </a:extLst>
          </p:cNvPr>
          <p:cNvSpPr txBox="1"/>
          <p:nvPr/>
        </p:nvSpPr>
        <p:spPr>
          <a:xfrm>
            <a:off x="9857688" y="3518467"/>
            <a:ext cx="1000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az</a:t>
            </a:r>
            <a:r>
              <a:rPr lang="es-ES" dirty="0"/>
              <a:t>, el</a:t>
            </a: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38BB7A53-303E-7470-72D9-5A9899578937}"/>
              </a:ext>
            </a:extLst>
          </p:cNvPr>
          <p:cNvSpPr txBox="1"/>
          <p:nvPr/>
        </p:nvSpPr>
        <p:spPr>
          <a:xfrm>
            <a:off x="7591410" y="3483218"/>
            <a:ext cx="1349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AOIL, AOIT</a:t>
            </a:r>
          </a:p>
        </p:txBody>
      </p:sp>
      <p:sp>
        <p:nvSpPr>
          <p:cNvPr id="77" name="Diagrama de flujo: disco magnético 76">
            <a:extLst>
              <a:ext uri="{FF2B5EF4-FFF2-40B4-BE49-F238E27FC236}">
                <a16:creationId xmlns:a16="http://schemas.microsoft.com/office/drawing/2014/main" id="{32F00DAA-8B1D-45C4-9E30-6137D121FC8D}"/>
              </a:ext>
            </a:extLst>
          </p:cNvPr>
          <p:cNvSpPr/>
          <p:nvPr/>
        </p:nvSpPr>
        <p:spPr>
          <a:xfrm>
            <a:off x="9306713" y="5047504"/>
            <a:ext cx="2102703" cy="589788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global_structs</a:t>
            </a:r>
            <a:endParaRPr lang="es-ES" dirty="0"/>
          </a:p>
        </p:txBody>
      </p:sp>
      <p:cxnSp>
        <p:nvCxnSpPr>
          <p:cNvPr id="79" name="Conector recto de flecha 78">
            <a:extLst>
              <a:ext uri="{FF2B5EF4-FFF2-40B4-BE49-F238E27FC236}">
                <a16:creationId xmlns:a16="http://schemas.microsoft.com/office/drawing/2014/main" id="{F17E3567-CD42-C978-DC3C-96E34FBB7CFB}"/>
              </a:ext>
            </a:extLst>
          </p:cNvPr>
          <p:cNvCxnSpPr>
            <a:cxnSpLocks/>
          </p:cNvCxnSpPr>
          <p:nvPr/>
        </p:nvCxnSpPr>
        <p:spPr>
          <a:xfrm flipH="1" flipV="1">
            <a:off x="7429635" y="4532993"/>
            <a:ext cx="2287089" cy="627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cto de flecha 80">
            <a:extLst>
              <a:ext uri="{FF2B5EF4-FFF2-40B4-BE49-F238E27FC236}">
                <a16:creationId xmlns:a16="http://schemas.microsoft.com/office/drawing/2014/main" id="{108DED4B-87BE-0B49-626F-21E5FCE1FE46}"/>
              </a:ext>
            </a:extLst>
          </p:cNvPr>
          <p:cNvCxnSpPr>
            <a:cxnSpLocks/>
          </p:cNvCxnSpPr>
          <p:nvPr/>
        </p:nvCxnSpPr>
        <p:spPr>
          <a:xfrm flipH="1" flipV="1">
            <a:off x="9528520" y="4475212"/>
            <a:ext cx="582168" cy="637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de flecha 82">
            <a:extLst>
              <a:ext uri="{FF2B5EF4-FFF2-40B4-BE49-F238E27FC236}">
                <a16:creationId xmlns:a16="http://schemas.microsoft.com/office/drawing/2014/main" id="{ACA9AA3C-55AD-DA5E-07AE-1F3921D7E4FD}"/>
              </a:ext>
            </a:extLst>
          </p:cNvPr>
          <p:cNvCxnSpPr>
            <a:cxnSpLocks/>
          </p:cNvCxnSpPr>
          <p:nvPr/>
        </p:nvCxnSpPr>
        <p:spPr>
          <a:xfrm flipV="1">
            <a:off x="10621108" y="4460091"/>
            <a:ext cx="26163" cy="700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CuadroTexto 89">
            <a:extLst>
              <a:ext uri="{FF2B5EF4-FFF2-40B4-BE49-F238E27FC236}">
                <a16:creationId xmlns:a16="http://schemas.microsoft.com/office/drawing/2014/main" id="{EDC3B0A4-036B-9B84-D695-29C7F76A2F27}"/>
              </a:ext>
            </a:extLst>
          </p:cNvPr>
          <p:cNvSpPr txBox="1"/>
          <p:nvPr/>
        </p:nvSpPr>
        <p:spPr>
          <a:xfrm>
            <a:off x="11125851" y="3401224"/>
            <a:ext cx="1000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date, time</a:t>
            </a:r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7C9EECA7-3A0A-35F8-A624-DC3433CD7098}"/>
              </a:ext>
            </a:extLst>
          </p:cNvPr>
          <p:cNvSpPr txBox="1"/>
          <p:nvPr/>
        </p:nvSpPr>
        <p:spPr>
          <a:xfrm>
            <a:off x="6663907" y="4545056"/>
            <a:ext cx="1309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g_x_target</a:t>
            </a:r>
            <a:r>
              <a:rPr lang="es-ES" dirty="0"/>
              <a:t>, </a:t>
            </a:r>
            <a:r>
              <a:rPr lang="es-ES" dirty="0" err="1"/>
              <a:t>g_z_target</a:t>
            </a:r>
            <a:endParaRPr lang="es-ES" dirty="0"/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6BA11805-1F40-C4A6-6799-3B650C1CD718}"/>
              </a:ext>
            </a:extLst>
          </p:cNvPr>
          <p:cNvSpPr txBox="1"/>
          <p:nvPr/>
        </p:nvSpPr>
        <p:spPr>
          <a:xfrm>
            <a:off x="7799083" y="5066672"/>
            <a:ext cx="1309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g_x_val</a:t>
            </a:r>
            <a:r>
              <a:rPr lang="es-ES" dirty="0"/>
              <a:t>, </a:t>
            </a:r>
            <a:r>
              <a:rPr lang="es-ES" dirty="0" err="1"/>
              <a:t>g_z_val</a:t>
            </a:r>
            <a:endParaRPr lang="es-ES" dirty="0"/>
          </a:p>
        </p:txBody>
      </p:sp>
      <p:cxnSp>
        <p:nvCxnSpPr>
          <p:cNvPr id="97" name="Conector recto de flecha 96">
            <a:extLst>
              <a:ext uri="{FF2B5EF4-FFF2-40B4-BE49-F238E27FC236}">
                <a16:creationId xmlns:a16="http://schemas.microsoft.com/office/drawing/2014/main" id="{D3DD3442-9D2E-63FC-60AD-D0835ADE6837}"/>
              </a:ext>
            </a:extLst>
          </p:cNvPr>
          <p:cNvCxnSpPr>
            <a:cxnSpLocks/>
          </p:cNvCxnSpPr>
          <p:nvPr/>
        </p:nvCxnSpPr>
        <p:spPr>
          <a:xfrm>
            <a:off x="7673644" y="5403596"/>
            <a:ext cx="11186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" name="Text 1"/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Manual routines and configuration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user can do and which variables each action touches.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7" name="Text 5"/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4983480" cy="1792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Configuration: lat/lon, pan, tilt, correction, and country.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time: updates RTC and sets manual_time.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Manual: enters MANUAL, writes X/Z target, and moves.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Home: references the mechanics and sets position to zero.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Ephemeris input: receives azimuth/elevation and calculates X/Z.</a:t>
            </a:r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</a:rPr>
              <a:t>Sync time: updates RTC and sets local time after a valid NMEA sentence.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62179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0" name="Text 8"/>
          <p:cNvSpPr/>
          <p:nvPr/>
        </p:nvSpPr>
        <p:spPr>
          <a:xfrm>
            <a:off x="67665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23974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2" name="Text 10"/>
          <p:cNvSpPr/>
          <p:nvPr/>
        </p:nvSpPr>
        <p:spPr>
          <a:xfrm>
            <a:off x="1678838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26157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4" name="Text 12"/>
          <p:cNvSpPr/>
          <p:nvPr/>
        </p:nvSpPr>
        <p:spPr>
          <a:xfrm>
            <a:off x="2681021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28339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6" name="Text 14"/>
          <p:cNvSpPr/>
          <p:nvPr/>
        </p:nvSpPr>
        <p:spPr>
          <a:xfrm>
            <a:off x="3683203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052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8" name="Text 16"/>
          <p:cNvSpPr/>
          <p:nvPr/>
        </p:nvSpPr>
        <p:spPr>
          <a:xfrm>
            <a:off x="468538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Ephemeris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411480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routines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4370832"/>
            <a:ext cx="4983480" cy="1024128"/>
          </a:xfrm>
          <a:prstGeom prst="roundRect">
            <a:avLst>
              <a:gd name="adj" fmla="val 8929"/>
            </a:avLst>
          </a:prstGeom>
          <a:solidFill>
            <a:srgbClr val="F1F7FA"/>
          </a:solidFill>
          <a:ln w="12700">
            <a:solidFill>
              <a:srgbClr val="CDEAF0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1" name="Text 19"/>
          <p:cNvSpPr/>
          <p:nvPr/>
        </p:nvSpPr>
        <p:spPr>
          <a:xfrm>
            <a:off x="795528" y="4517136"/>
            <a:ext cx="458114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http_apply_config_submit() → saveData()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setManualTime() → RTC/manual_time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manualModeGoto() and ephInputMode()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548640" y="613562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EEF2F7"/>
          </a:solidFill>
          <a:ln w="1270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7" name="Text 25"/>
          <p:cNvSpPr/>
          <p:nvPr/>
        </p:nvSpPr>
        <p:spPr>
          <a:xfrm>
            <a:off x="713232" y="622706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httpserver.c  ·  manual_mode.cpp  ·  eph_input_mode.cpp  ·  state_machine.c  ·  storage.c</a:t>
            </a:r>
            <a:endParaRPr lang="en-US" sz="820" dirty="0"/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C764EEC2-B694-A054-F95C-1BC8C7D41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082" y="304710"/>
            <a:ext cx="3104235" cy="5771693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E8778473-CDB8-9BA4-8EB5-0BB844FB9A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2344" y="429768"/>
            <a:ext cx="2914514" cy="2914514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D2993646-C671-19E6-17DE-535615AE2D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2344" y="231558"/>
            <a:ext cx="2991702" cy="63066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" name="Text 1"/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09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Hardware and peripheral control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the code to the real hardware connected to the board.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7" name="Text 5"/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4983480" cy="1792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ST67W6X: SPI1, SPI_RDY through EXTI, and BOOT/CHIP_EN pins.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GPS: LPUART1 + power switch through GPS_enable_Pin.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Motors: GPIO STEP/DIR/ENABLE.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Endstops: EXTI and software-cached state.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RS485 remains prepared on USART2.</a:t>
            </a:r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</a:rPr>
              <a:t>Unused pins as analog to lower consumption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62179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0" name="Text 8"/>
          <p:cNvSpPr/>
          <p:nvPr/>
        </p:nvSpPr>
        <p:spPr>
          <a:xfrm>
            <a:off x="67665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WiFi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23974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2" name="Text 10"/>
          <p:cNvSpPr/>
          <p:nvPr/>
        </p:nvSpPr>
        <p:spPr>
          <a:xfrm>
            <a:off x="1678838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26157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4" name="Text 12"/>
          <p:cNvSpPr/>
          <p:nvPr/>
        </p:nvSpPr>
        <p:spPr>
          <a:xfrm>
            <a:off x="2681021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28339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6" name="Text 14"/>
          <p:cNvSpPr/>
          <p:nvPr/>
        </p:nvSpPr>
        <p:spPr>
          <a:xfrm>
            <a:off x="3683203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Endstops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052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8" name="Text 16"/>
          <p:cNvSpPr/>
          <p:nvPr/>
        </p:nvSpPr>
        <p:spPr>
          <a:xfrm>
            <a:off x="468538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RTC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411480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routines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4370832"/>
            <a:ext cx="4983480" cy="1024128"/>
          </a:xfrm>
          <a:prstGeom prst="roundRect">
            <a:avLst>
              <a:gd name="adj" fmla="val 8929"/>
            </a:avLst>
          </a:prstGeom>
          <a:solidFill>
            <a:srgbClr val="F1F7FA"/>
          </a:solidFill>
          <a:ln w="12700">
            <a:solidFill>
              <a:srgbClr val="CDEAF0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1" name="Text 19"/>
          <p:cNvSpPr/>
          <p:nvPr/>
        </p:nvSpPr>
        <p:spPr>
          <a:xfrm>
            <a:off x="795528" y="4517136"/>
            <a:ext cx="458114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GPS is off by default and turns on for sync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DWT generates STEP pulses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EXTI updates endstop state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5989320" y="635286"/>
            <a:ext cx="5806440" cy="5500338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6" name="Shape 24"/>
          <p:cNvSpPr/>
          <p:nvPr/>
        </p:nvSpPr>
        <p:spPr>
          <a:xfrm>
            <a:off x="548640" y="613562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EEF2F7"/>
          </a:solidFill>
          <a:ln w="1270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7" name="Text 25"/>
          <p:cNvSpPr/>
          <p:nvPr/>
        </p:nvSpPr>
        <p:spPr>
          <a:xfrm>
            <a:off x="713232" y="622706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main.c  ·  main.h  ·  gps.cpp  ·  movement.cpp  ·  main_app.c  ·  controled_shutdown.c</a:t>
            </a:r>
            <a:endParaRPr lang="en-US" sz="82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907A1996-6EB8-FAB9-2BDB-D7511842B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911" y="763302"/>
            <a:ext cx="5495969" cy="53626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" name="Text 1"/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Real movement and homing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logical command becomes physical movement and position referencing.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7" name="Text 5"/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4983480" cy="1792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Commands enter a FreeRTOS queue.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requestHome() runs at startup to reference the mechanics.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move(x,z) treats targets as absolute positions in mm.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Homing: first touch, backoff, and second touch.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move/home, g_x_val and g_z_val are saved.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62179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0" name="Text 8"/>
          <p:cNvSpPr/>
          <p:nvPr/>
        </p:nvSpPr>
        <p:spPr>
          <a:xfrm>
            <a:off x="67665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requestMove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23974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2" name="Text 10"/>
          <p:cNvSpPr/>
          <p:nvPr/>
        </p:nvSpPr>
        <p:spPr>
          <a:xfrm>
            <a:off x="1678838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moveQueue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26157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4" name="Text 12"/>
          <p:cNvSpPr/>
          <p:nvPr/>
        </p:nvSpPr>
        <p:spPr>
          <a:xfrm>
            <a:off x="2681021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movementTask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28339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6" name="Text 14"/>
          <p:cNvSpPr/>
          <p:nvPr/>
        </p:nvSpPr>
        <p:spPr>
          <a:xfrm>
            <a:off x="3683203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move/GoHomePair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052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8" name="Text 16"/>
          <p:cNvSpPr/>
          <p:nvPr/>
        </p:nvSpPr>
        <p:spPr>
          <a:xfrm>
            <a:off x="468538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savePos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411480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routines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4370832"/>
            <a:ext cx="4983480" cy="1024128"/>
          </a:xfrm>
          <a:prstGeom prst="roundRect">
            <a:avLst>
              <a:gd name="adj" fmla="val 8929"/>
            </a:avLst>
          </a:prstGeom>
          <a:solidFill>
            <a:srgbClr val="F1F7FA"/>
          </a:solidFill>
          <a:ln w="12700">
            <a:solidFill>
              <a:srgbClr val="CDEAF0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1" name="Text 19"/>
          <p:cNvSpPr/>
          <p:nvPr/>
        </p:nvSpPr>
        <p:spPr>
          <a:xfrm>
            <a:off x="795528" y="4517136"/>
            <a:ext cx="458114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requestMove() rejects stale commands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movementTask() serializes commands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GoHomePair() sets software zero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548640" y="613562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EEF2F7"/>
          </a:solidFill>
          <a:ln w="1270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7" name="Text 25"/>
          <p:cNvSpPr/>
          <p:nvPr/>
        </p:nvSpPr>
        <p:spPr>
          <a:xfrm>
            <a:off x="713232" y="622706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movement_task.cpp  ·  movement.cpp  ·  movement.h  ·  storage.c  ·  global_structs.h</a:t>
            </a:r>
            <a:endParaRPr lang="en-US" sz="820" dirty="0"/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4C069EA7-A1E5-90AE-5447-751853EAE2CE}"/>
              </a:ext>
            </a:extLst>
          </p:cNvPr>
          <p:cNvSpPr/>
          <p:nvPr/>
        </p:nvSpPr>
        <p:spPr>
          <a:xfrm>
            <a:off x="5939335" y="456975"/>
            <a:ext cx="5394960" cy="5358682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3" name="Diagrama de flujo: disco magnético 32">
            <a:extLst>
              <a:ext uri="{FF2B5EF4-FFF2-40B4-BE49-F238E27FC236}">
                <a16:creationId xmlns:a16="http://schemas.microsoft.com/office/drawing/2014/main" id="{E7887A0B-D0AD-AFE5-ED76-25F3A71FBE00}"/>
              </a:ext>
            </a:extLst>
          </p:cNvPr>
          <p:cNvSpPr/>
          <p:nvPr/>
        </p:nvSpPr>
        <p:spPr>
          <a:xfrm>
            <a:off x="7424476" y="1082123"/>
            <a:ext cx="2212025" cy="889254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Queue</a:t>
            </a:r>
          </a:p>
        </p:txBody>
      </p:sp>
      <p:sp>
        <p:nvSpPr>
          <p:cNvPr id="34" name="Flecha: a la derecha 33">
            <a:extLst>
              <a:ext uri="{FF2B5EF4-FFF2-40B4-BE49-F238E27FC236}">
                <a16:creationId xmlns:a16="http://schemas.microsoft.com/office/drawing/2014/main" id="{C9201C4C-F99E-6DFA-6056-14411B157C87}"/>
              </a:ext>
            </a:extLst>
          </p:cNvPr>
          <p:cNvSpPr/>
          <p:nvPr/>
        </p:nvSpPr>
        <p:spPr>
          <a:xfrm rot="5400000">
            <a:off x="8163841" y="573500"/>
            <a:ext cx="733292" cy="6605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5AC238C9-533F-2B07-5C6F-A9873CE46BFE}"/>
              </a:ext>
            </a:extLst>
          </p:cNvPr>
          <p:cNvSpPr txBox="1"/>
          <p:nvPr/>
        </p:nvSpPr>
        <p:spPr>
          <a:xfrm>
            <a:off x="9005445" y="485334"/>
            <a:ext cx="1403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Commands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2F726154-160D-CD4D-1B50-32CB5FFFBF67}"/>
              </a:ext>
            </a:extLst>
          </p:cNvPr>
          <p:cNvSpPr/>
          <p:nvPr/>
        </p:nvSpPr>
        <p:spPr>
          <a:xfrm>
            <a:off x="8426969" y="2743471"/>
            <a:ext cx="1982010" cy="77582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Homing</a:t>
            </a:r>
            <a:endParaRPr lang="es-ES" dirty="0"/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FA9B41CE-2A76-4784-F51B-407D041C72FE}"/>
              </a:ext>
            </a:extLst>
          </p:cNvPr>
          <p:cNvSpPr/>
          <p:nvPr/>
        </p:nvSpPr>
        <p:spPr>
          <a:xfrm>
            <a:off x="8531441" y="3612034"/>
            <a:ext cx="994299" cy="4674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Move 1</a:t>
            </a:r>
          </a:p>
        </p:txBody>
      </p:sp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ADFF262C-F523-CAD3-59A8-CE7ECC7544BA}"/>
              </a:ext>
            </a:extLst>
          </p:cNvPr>
          <p:cNvSpPr/>
          <p:nvPr/>
        </p:nvSpPr>
        <p:spPr>
          <a:xfrm>
            <a:off x="9707419" y="3612035"/>
            <a:ext cx="994299" cy="4674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Move 2</a:t>
            </a:r>
          </a:p>
        </p:txBody>
      </p: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3C88B631-7699-ACCF-D2A6-7B1FB74FB0AC}"/>
              </a:ext>
            </a:extLst>
          </p:cNvPr>
          <p:cNvCxnSpPr>
            <a:cxnSpLocks/>
          </p:cNvCxnSpPr>
          <p:nvPr/>
        </p:nvCxnSpPr>
        <p:spPr>
          <a:xfrm>
            <a:off x="7325879" y="2410067"/>
            <a:ext cx="0" cy="1960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uadroTexto 53">
            <a:extLst>
              <a:ext uri="{FF2B5EF4-FFF2-40B4-BE49-F238E27FC236}">
                <a16:creationId xmlns:a16="http://schemas.microsoft.com/office/drawing/2014/main" id="{7404B7A3-677B-7B9B-22C1-A6E5CBC622DE}"/>
              </a:ext>
            </a:extLst>
          </p:cNvPr>
          <p:cNvSpPr txBox="1"/>
          <p:nvPr/>
        </p:nvSpPr>
        <p:spPr>
          <a:xfrm>
            <a:off x="6623905" y="2004684"/>
            <a:ext cx="1403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t = 0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7797CC1D-2CF7-5963-C22B-E45768E02EA4}"/>
              </a:ext>
            </a:extLst>
          </p:cNvPr>
          <p:cNvSpPr/>
          <p:nvPr/>
        </p:nvSpPr>
        <p:spPr>
          <a:xfrm>
            <a:off x="6569225" y="5022126"/>
            <a:ext cx="1012378" cy="68641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Homing</a:t>
            </a:r>
            <a:endParaRPr lang="es-ES" dirty="0"/>
          </a:p>
        </p:txBody>
      </p: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5B043F51-E439-FAE9-A4A9-FC0EBA24239B}"/>
              </a:ext>
            </a:extLst>
          </p:cNvPr>
          <p:cNvCxnSpPr/>
          <p:nvPr/>
        </p:nvCxnSpPr>
        <p:spPr>
          <a:xfrm>
            <a:off x="7688062" y="5396014"/>
            <a:ext cx="6227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uadroTexto 59">
            <a:extLst>
              <a:ext uri="{FF2B5EF4-FFF2-40B4-BE49-F238E27FC236}">
                <a16:creationId xmlns:a16="http://schemas.microsoft.com/office/drawing/2014/main" id="{ED7147CF-6989-B3B0-93BA-01B4D9EB67B7}"/>
              </a:ext>
            </a:extLst>
          </p:cNvPr>
          <p:cNvSpPr txBox="1"/>
          <p:nvPr/>
        </p:nvSpPr>
        <p:spPr>
          <a:xfrm>
            <a:off x="6349292" y="4674654"/>
            <a:ext cx="1403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1</a:t>
            </a: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C3578F0E-9E2A-56C0-E521-CC4A14374858}"/>
              </a:ext>
            </a:extLst>
          </p:cNvPr>
          <p:cNvSpPr/>
          <p:nvPr/>
        </p:nvSpPr>
        <p:spPr>
          <a:xfrm>
            <a:off x="8443384" y="5161216"/>
            <a:ext cx="994299" cy="4674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Move 1</a:t>
            </a:r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2A02DA24-811E-490B-E805-E71F323E5CA6}"/>
              </a:ext>
            </a:extLst>
          </p:cNvPr>
          <p:cNvSpPr/>
          <p:nvPr/>
        </p:nvSpPr>
        <p:spPr>
          <a:xfrm>
            <a:off x="9950113" y="5164506"/>
            <a:ext cx="994299" cy="4674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Move 2</a:t>
            </a:r>
          </a:p>
        </p:txBody>
      </p: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4C2849BD-CAC5-C079-F3F8-8200699D6274}"/>
              </a:ext>
            </a:extLst>
          </p:cNvPr>
          <p:cNvCxnSpPr/>
          <p:nvPr/>
        </p:nvCxnSpPr>
        <p:spPr>
          <a:xfrm>
            <a:off x="9525740" y="5396014"/>
            <a:ext cx="337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uadroTexto 67">
            <a:extLst>
              <a:ext uri="{FF2B5EF4-FFF2-40B4-BE49-F238E27FC236}">
                <a16:creationId xmlns:a16="http://schemas.microsoft.com/office/drawing/2014/main" id="{2691BB3B-9DA8-31F8-3FDA-6EC0241EB71E}"/>
              </a:ext>
            </a:extLst>
          </p:cNvPr>
          <p:cNvSpPr txBox="1"/>
          <p:nvPr/>
        </p:nvSpPr>
        <p:spPr>
          <a:xfrm>
            <a:off x="8245957" y="4836587"/>
            <a:ext cx="1403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2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0CA29850-DA3E-A600-8BB5-3958E3244A16}"/>
              </a:ext>
            </a:extLst>
          </p:cNvPr>
          <p:cNvSpPr txBox="1"/>
          <p:nvPr/>
        </p:nvSpPr>
        <p:spPr>
          <a:xfrm>
            <a:off x="9742060" y="4824460"/>
            <a:ext cx="1403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3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57BAB2F8-FE27-8696-3A46-13BD24BD9056}"/>
              </a:ext>
            </a:extLst>
          </p:cNvPr>
          <p:cNvSpPr txBox="1"/>
          <p:nvPr/>
        </p:nvSpPr>
        <p:spPr>
          <a:xfrm>
            <a:off x="5994946" y="3745468"/>
            <a:ext cx="1403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Commands</a:t>
            </a: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4868FC36-2DF4-865B-BEA7-103A494A421F}"/>
              </a:ext>
            </a:extLst>
          </p:cNvPr>
          <p:cNvSpPr/>
          <p:nvPr/>
        </p:nvSpPr>
        <p:spPr>
          <a:xfrm>
            <a:off x="7398894" y="3565985"/>
            <a:ext cx="994299" cy="63783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Homing</a:t>
            </a:r>
            <a:endParaRPr lang="es-ES" dirty="0"/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57F29CE4-9225-67B3-78E2-01D44F61851B}"/>
              </a:ext>
            </a:extLst>
          </p:cNvPr>
          <p:cNvSpPr txBox="1"/>
          <p:nvPr/>
        </p:nvSpPr>
        <p:spPr>
          <a:xfrm>
            <a:off x="6284114" y="2883182"/>
            <a:ext cx="1403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Process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" name="Text 1"/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Configuration and data persistence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data survives a reset and the limitations of the solution.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7" name="Text 5"/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4983480" cy="1792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persistent record in the last flash page.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config, FSM, position, time mode, manual time, and country.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validation fails, defaults are loaded.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save API updates the full record.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62179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0" name="Text 8"/>
          <p:cNvSpPr/>
          <p:nvPr/>
        </p:nvSpPr>
        <p:spPr>
          <a:xfrm>
            <a:off x="67665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23974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2" name="Text 10"/>
          <p:cNvSpPr/>
          <p:nvPr/>
        </p:nvSpPr>
        <p:spPr>
          <a:xfrm>
            <a:off x="1678838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26157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4" name="Text 12"/>
          <p:cNvSpPr/>
          <p:nvPr/>
        </p:nvSpPr>
        <p:spPr>
          <a:xfrm>
            <a:off x="2681021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data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28339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6" name="Text 14"/>
          <p:cNvSpPr/>
          <p:nvPr/>
        </p:nvSpPr>
        <p:spPr>
          <a:xfrm>
            <a:off x="3683203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052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8" name="Text 16"/>
          <p:cNvSpPr/>
          <p:nvPr/>
        </p:nvSpPr>
        <p:spPr>
          <a:xfrm>
            <a:off x="468538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CRC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411480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routines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4370832"/>
            <a:ext cx="4983480" cy="1024128"/>
          </a:xfrm>
          <a:prstGeom prst="roundRect">
            <a:avLst>
              <a:gd name="adj" fmla="val 8929"/>
            </a:avLst>
          </a:prstGeom>
          <a:solidFill>
            <a:srgbClr val="F1F7FA"/>
          </a:solidFill>
          <a:ln w="12700">
            <a:solidFill>
              <a:srgbClr val="CDEAF0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1" name="Text 19"/>
          <p:cNvSpPr/>
          <p:nvPr/>
        </p:nvSpPr>
        <p:spPr>
          <a:xfrm>
            <a:off x="795528" y="4517136"/>
            <a:ext cx="458114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Storage_LoadAll() at startup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saveData()/saveState()/savePos()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storage_save_in_progress prevents re-entry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548640" y="613562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EEF2F7"/>
          </a:solidFill>
          <a:ln w="1270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7" name="Text 25"/>
          <p:cNvSpPr/>
          <p:nvPr/>
        </p:nvSpPr>
        <p:spPr>
          <a:xfrm>
            <a:off x="713232" y="622706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storage.c  ·  storage.h  ·  solar_app.c  ·  state_machine.c  ·  movement_task.cpp  ·  httpserver.c</a:t>
            </a:r>
            <a:endParaRPr lang="en-US" sz="8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8ED33A-0BED-36B2-9458-710E255F1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9AAA1BE-8551-22A2-1133-B49D046B78E7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F1E3863-B84B-2E76-7A13-EDC8C24520DB}"/>
              </a:ext>
            </a:extLst>
          </p:cNvPr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11</a:t>
            </a:r>
            <a:endParaRPr lang="en-US" sz="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54C0557-8CAD-35CA-F522-E40084A7EAC9}"/>
              </a:ext>
            </a:extLst>
          </p:cNvPr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Power diagram</a:t>
            </a:r>
            <a:endParaRPr lang="en-US" sz="2500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8162EF60-E3D9-3009-2190-F3BEE5B5F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058" y="761186"/>
            <a:ext cx="9870933" cy="577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851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" name="Text 1"/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Practical issues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 real issues as technical decisions made to move the prototype forward.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7" name="Text 5"/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59" y="1444752"/>
            <a:ext cx="5296301" cy="1792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Inherited ST example structure mixed middleware, generated code, and project-specific files.</a:t>
            </a:r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build was sensitive to Target folders, generated HTML headers, and prebuild steps.</a:t>
            </a:r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mechanical misalignment caused repeated homing impacts to loosen the end-stops.</a:t>
            </a:r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Belt-driven motion introduced a position-dependent error during automatic tracking.</a:t>
            </a:r>
            <a:endParaRPr lang="en-US" sz="1370" dirty="0">
              <a:solidFill>
                <a:srgbClr val="1F2937"/>
              </a:solidFill>
              <a:latin typeface="Aptos" pitchFamily="34" charset="0"/>
            </a:endParaRPr>
          </a:p>
          <a:p>
            <a:pPr marL="177800" indent="-177800">
              <a:buSzPct val="100000"/>
              <a:buChar char="•"/>
            </a:pP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621792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0" name="Text 8"/>
          <p:cNvSpPr/>
          <p:nvPr/>
        </p:nvSpPr>
        <p:spPr>
          <a:xfrm>
            <a:off x="676656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74520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2" name="Text 10"/>
          <p:cNvSpPr/>
          <p:nvPr/>
        </p:nvSpPr>
        <p:spPr>
          <a:xfrm>
            <a:off x="1929384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27248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4" name="Text 12"/>
          <p:cNvSpPr/>
          <p:nvPr/>
        </p:nvSpPr>
        <p:spPr>
          <a:xfrm>
            <a:off x="3182112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79976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6" name="Text 14"/>
          <p:cNvSpPr/>
          <p:nvPr/>
        </p:nvSpPr>
        <p:spPr>
          <a:xfrm>
            <a:off x="4434840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Improvement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411480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fixes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59" y="4370832"/>
            <a:ext cx="9465004" cy="1357884"/>
          </a:xfrm>
          <a:prstGeom prst="roundRect">
            <a:avLst>
              <a:gd name="adj" fmla="val 8929"/>
            </a:avLst>
          </a:prstGeom>
          <a:solidFill>
            <a:srgbClr val="F1F7FA"/>
          </a:solidFill>
          <a:ln w="12700">
            <a:solidFill>
              <a:srgbClr val="CDEAF0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9" name="Text 17"/>
          <p:cNvSpPr/>
          <p:nvPr/>
        </p:nvSpPr>
        <p:spPr>
          <a:xfrm>
            <a:off x="795527" y="4517136"/>
            <a:ext cx="9465004" cy="1094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Documented the ST WiFi project structure, middleware dependencies, Target folders, and prebuild workflow in the WiFi Technical Documentation Word file.</a:t>
            </a:r>
          </a:p>
          <a:p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Refined the homing second-touch routine so each motor approaches the end-stop gently and individually after alignment.</a:t>
            </a:r>
          </a:p>
          <a:p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Re-aligned the mechanical end-stops to avoid detachment during recurrent homing cycles.</a:t>
            </a:r>
          </a:p>
          <a:p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Added linear Z-axis hysteresis compensation based on calibration data: approx. 4 mm correction over 75 mm travel.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548640" y="613562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EEF2F7"/>
          </a:solidFill>
          <a:ln w="1270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5" name="Text 23"/>
          <p:cNvSpPr/>
          <p:nvPr/>
        </p:nvSpPr>
        <p:spPr>
          <a:xfrm>
            <a:off x="713232" y="622706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 err="1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main_app.c</a:t>
            </a:r>
            <a:r>
              <a:rPr lang="en-US" sz="8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·  gps.cpp  ·  html_pages.h  · </a:t>
            </a:r>
            <a:endParaRPr lang="en-US" sz="82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D79707A-74C9-5836-E3DF-36A21374C820}"/>
              </a:ext>
            </a:extLst>
          </p:cNvPr>
          <p:cNvSpPr txBox="1"/>
          <p:nvPr/>
        </p:nvSpPr>
        <p:spPr>
          <a:xfrm>
            <a:off x="6393406" y="1335024"/>
            <a:ext cx="6386711" cy="1920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s-ES" dirty="0"/>
            </a:br>
            <a:endParaRPr lang="es-ES" sz="1370" dirty="0">
              <a:solidFill>
                <a:srgbClr val="1F2937"/>
              </a:solidFill>
              <a:latin typeface="Aptos" pitchFamily="34" charset="0"/>
            </a:endParaRPr>
          </a:p>
          <a:p>
            <a:r>
              <a:rPr lang="es-ES" sz="1370" dirty="0">
                <a:solidFill>
                  <a:srgbClr val="1F2937"/>
                </a:solidFill>
                <a:latin typeface="Aptos" pitchFamily="34" charset="0"/>
              </a:rPr>
              <a:t>- \ST67W6X_HTTP_Server\</a:t>
            </a:r>
            <a:r>
              <a:rPr lang="es-ES" sz="1370" dirty="0" err="1">
                <a:solidFill>
                  <a:srgbClr val="1F2937"/>
                </a:solidFill>
                <a:latin typeface="Aptos" pitchFamily="34" charset="0"/>
              </a:rPr>
              <a:t>Appli</a:t>
            </a:r>
            <a:r>
              <a:rPr lang="es-ES" sz="1370" dirty="0">
                <a:solidFill>
                  <a:srgbClr val="1F2937"/>
                </a:solidFill>
                <a:latin typeface="Aptos" pitchFamily="34" charset="0"/>
              </a:rPr>
              <a:t>\App </a:t>
            </a:r>
            <a:r>
              <a:rPr lang="en-US" sz="140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server and main app</a:t>
            </a:r>
            <a:endParaRPr lang="es-ES" sz="1370" dirty="0">
              <a:solidFill>
                <a:srgbClr val="1F2937"/>
              </a:solidFill>
              <a:latin typeface="Aptos" pitchFamily="34" charset="0"/>
            </a:endParaRPr>
          </a:p>
          <a:p>
            <a:r>
              <a:rPr lang="es-ES" sz="1370" dirty="0">
                <a:solidFill>
                  <a:srgbClr val="1F2937"/>
                </a:solidFill>
                <a:latin typeface="Aptos" pitchFamily="34" charset="0"/>
              </a:rPr>
              <a:t>- \ST67W6X_HTTP_Server\</a:t>
            </a:r>
            <a:r>
              <a:rPr lang="es-ES" sz="1370" dirty="0" err="1">
                <a:solidFill>
                  <a:srgbClr val="1F2937"/>
                </a:solidFill>
                <a:latin typeface="Aptos" pitchFamily="34" charset="0"/>
              </a:rPr>
              <a:t>Html</a:t>
            </a:r>
            <a:r>
              <a:rPr lang="en-US" sz="140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→ HTML build</a:t>
            </a:r>
            <a:endParaRPr lang="es-ES" sz="1370" dirty="0">
              <a:solidFill>
                <a:srgbClr val="1F2937"/>
              </a:solidFill>
              <a:latin typeface="Aptos" pitchFamily="34" charset="0"/>
            </a:endParaRPr>
          </a:p>
          <a:p>
            <a:r>
              <a:rPr lang="es-ES" sz="1370" dirty="0">
                <a:solidFill>
                  <a:srgbClr val="1F2937"/>
                </a:solidFill>
                <a:latin typeface="Aptos" pitchFamily="34" charset="0"/>
              </a:rPr>
              <a:t>- \ST67W6X_HTTP_Server\Core\</a:t>
            </a:r>
            <a:r>
              <a:rPr lang="es-ES" sz="1370" dirty="0" err="1">
                <a:solidFill>
                  <a:srgbClr val="1F2937"/>
                </a:solidFill>
                <a:latin typeface="Aptos" pitchFamily="34" charset="0"/>
              </a:rPr>
              <a:t>Src</a:t>
            </a:r>
            <a:endParaRPr lang="es-ES" sz="1370" dirty="0">
              <a:solidFill>
                <a:srgbClr val="1F2937"/>
              </a:solidFill>
              <a:latin typeface="Aptos" pitchFamily="34" charset="0"/>
            </a:endParaRPr>
          </a:p>
          <a:p>
            <a:r>
              <a:rPr lang="es-ES" sz="1370" dirty="0">
                <a:solidFill>
                  <a:srgbClr val="1F2937"/>
                </a:solidFill>
                <a:latin typeface="Aptos" pitchFamily="34" charset="0"/>
              </a:rPr>
              <a:t>- \ST67W6X_HTTP_Server\Core\</a:t>
            </a:r>
            <a:r>
              <a:rPr lang="es-ES" sz="1370" dirty="0" err="1">
                <a:solidFill>
                  <a:srgbClr val="1F2937"/>
                </a:solidFill>
                <a:latin typeface="Aptos" pitchFamily="34" charset="0"/>
              </a:rPr>
              <a:t>Inc</a:t>
            </a:r>
            <a:endParaRPr lang="es-ES" sz="1370" dirty="0">
              <a:solidFill>
                <a:srgbClr val="1F2937"/>
              </a:solidFill>
              <a:latin typeface="Aptos" pitchFamily="34" charset="0"/>
            </a:endParaRPr>
          </a:p>
          <a:p>
            <a:endParaRPr lang="es-ES" sz="1370" dirty="0">
              <a:solidFill>
                <a:srgbClr val="1F2937"/>
              </a:solidFill>
              <a:latin typeface="Aptos" pitchFamily="34" charset="0"/>
            </a:endParaRPr>
          </a:p>
          <a:p>
            <a:endParaRPr lang="es-ES" b="0" i="0" dirty="0">
              <a:solidFill>
                <a:srgbClr val="FFFFFF"/>
              </a:solidFill>
              <a:effectLst/>
              <a:latin typeface="Courier New" panose="02070309020205020404" pitchFamily="49" charset="0"/>
            </a:endParaRPr>
          </a:p>
        </p:txBody>
      </p:sp>
      <p:graphicFrame>
        <p:nvGraphicFramePr>
          <p:cNvPr id="30" name="Gráfico 29">
            <a:extLst>
              <a:ext uri="{FF2B5EF4-FFF2-40B4-BE49-F238E27FC236}">
                <a16:creationId xmlns:a16="http://schemas.microsoft.com/office/drawing/2014/main" id="{E3F231C1-E463-3D49-1733-63CCD86F3B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6393460"/>
              </p:ext>
            </p:extLst>
          </p:nvPr>
        </p:nvGraphicFramePr>
        <p:xfrm>
          <a:off x="6258670" y="877825"/>
          <a:ext cx="5311538" cy="3115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Graphic spid="30" grpId="0">
        <p:bldAsOne/>
      </p:bldGraphic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F96F3E-6143-01C3-6C0F-A4536D1D7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7F79B8A-BD5F-E946-2419-B0C5675E44C3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E8242F8-B32D-011D-7C4C-F05CB2995357}"/>
              </a:ext>
            </a:extLst>
          </p:cNvPr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08</a:t>
            </a:r>
            <a:endParaRPr lang="en-US" sz="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660C19C-CD78-D2D0-7695-02188DB8736E}"/>
              </a:ext>
            </a:extLst>
          </p:cNvPr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 Results</a:t>
            </a:r>
            <a:endParaRPr lang="en-US" sz="2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D8C9F24-DC77-FA39-C20B-4874B3EA483D}"/>
              </a:ext>
            </a:extLst>
          </p:cNvPr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75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BA094CA5-CEF9-FC7E-1FAD-22BF606DF0D7}"/>
              </a:ext>
            </a:extLst>
          </p:cNvPr>
          <p:cNvSpPr/>
          <p:nvPr/>
        </p:nvSpPr>
        <p:spPr>
          <a:xfrm>
            <a:off x="502920" y="931343"/>
            <a:ext cx="6461902" cy="1792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Test cases cover different locations, time ranges, panel tilt and pan configurations.</a:t>
            </a:r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Interpolated X/Z values were compared against STM32 theoretical outputs and real measured positions.</a:t>
            </a:r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Z axis reached a mechanical limit around 73 mm due to the belt/pulley geometry.</a:t>
            </a:r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 lower-left belt/slider misalignment caused lost steps during one tracking case.</a:t>
            </a:r>
            <a:endParaRPr lang="en-US" sz="1370" dirty="0"/>
          </a:p>
        </p:txBody>
      </p:sp>
      <p:graphicFrame>
        <p:nvGraphicFramePr>
          <p:cNvPr id="30" name="Tabla 29">
            <a:extLst>
              <a:ext uri="{FF2B5EF4-FFF2-40B4-BE49-F238E27FC236}">
                <a16:creationId xmlns:a16="http://schemas.microsoft.com/office/drawing/2014/main" id="{22B6AACB-C91B-44BB-414E-37FE155E7E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72290"/>
              </p:ext>
            </p:extLst>
          </p:nvPr>
        </p:nvGraphicFramePr>
        <p:xfrm>
          <a:off x="737348" y="3081152"/>
          <a:ext cx="10515597" cy="3010179"/>
        </p:xfrm>
        <a:graphic>
          <a:graphicData uri="http://schemas.openxmlformats.org/drawingml/2006/table">
            <a:tbl>
              <a:tblPr/>
              <a:tblGrid>
                <a:gridCol w="696205">
                  <a:extLst>
                    <a:ext uri="{9D8B030D-6E8A-4147-A177-3AD203B41FA5}">
                      <a16:colId xmlns:a16="http://schemas.microsoft.com/office/drawing/2014/main" val="3487559052"/>
                    </a:ext>
                  </a:extLst>
                </a:gridCol>
                <a:gridCol w="696205">
                  <a:extLst>
                    <a:ext uri="{9D8B030D-6E8A-4147-A177-3AD203B41FA5}">
                      <a16:colId xmlns:a16="http://schemas.microsoft.com/office/drawing/2014/main" val="3488270619"/>
                    </a:ext>
                  </a:extLst>
                </a:gridCol>
                <a:gridCol w="742619">
                  <a:extLst>
                    <a:ext uri="{9D8B030D-6E8A-4147-A177-3AD203B41FA5}">
                      <a16:colId xmlns:a16="http://schemas.microsoft.com/office/drawing/2014/main" val="1465152222"/>
                    </a:ext>
                  </a:extLst>
                </a:gridCol>
                <a:gridCol w="696205">
                  <a:extLst>
                    <a:ext uri="{9D8B030D-6E8A-4147-A177-3AD203B41FA5}">
                      <a16:colId xmlns:a16="http://schemas.microsoft.com/office/drawing/2014/main" val="4235255616"/>
                    </a:ext>
                  </a:extLst>
                </a:gridCol>
                <a:gridCol w="696205">
                  <a:extLst>
                    <a:ext uri="{9D8B030D-6E8A-4147-A177-3AD203B41FA5}">
                      <a16:colId xmlns:a16="http://schemas.microsoft.com/office/drawing/2014/main" val="2058040456"/>
                    </a:ext>
                  </a:extLst>
                </a:gridCol>
                <a:gridCol w="696205">
                  <a:extLst>
                    <a:ext uri="{9D8B030D-6E8A-4147-A177-3AD203B41FA5}">
                      <a16:colId xmlns:a16="http://schemas.microsoft.com/office/drawing/2014/main" val="4178290316"/>
                    </a:ext>
                  </a:extLst>
                </a:gridCol>
                <a:gridCol w="696205">
                  <a:extLst>
                    <a:ext uri="{9D8B030D-6E8A-4147-A177-3AD203B41FA5}">
                      <a16:colId xmlns:a16="http://schemas.microsoft.com/office/drawing/2014/main" val="359724313"/>
                    </a:ext>
                  </a:extLst>
                </a:gridCol>
                <a:gridCol w="696205">
                  <a:extLst>
                    <a:ext uri="{9D8B030D-6E8A-4147-A177-3AD203B41FA5}">
                      <a16:colId xmlns:a16="http://schemas.microsoft.com/office/drawing/2014/main" val="3555993576"/>
                    </a:ext>
                  </a:extLst>
                </a:gridCol>
                <a:gridCol w="696205">
                  <a:extLst>
                    <a:ext uri="{9D8B030D-6E8A-4147-A177-3AD203B41FA5}">
                      <a16:colId xmlns:a16="http://schemas.microsoft.com/office/drawing/2014/main" val="1818480387"/>
                    </a:ext>
                  </a:extLst>
                </a:gridCol>
                <a:gridCol w="696205">
                  <a:extLst>
                    <a:ext uri="{9D8B030D-6E8A-4147-A177-3AD203B41FA5}">
                      <a16:colId xmlns:a16="http://schemas.microsoft.com/office/drawing/2014/main" val="1820262743"/>
                    </a:ext>
                  </a:extLst>
                </a:gridCol>
                <a:gridCol w="696205">
                  <a:extLst>
                    <a:ext uri="{9D8B030D-6E8A-4147-A177-3AD203B41FA5}">
                      <a16:colId xmlns:a16="http://schemas.microsoft.com/office/drawing/2014/main" val="190255420"/>
                    </a:ext>
                  </a:extLst>
                </a:gridCol>
                <a:gridCol w="696205">
                  <a:extLst>
                    <a:ext uri="{9D8B030D-6E8A-4147-A177-3AD203B41FA5}">
                      <a16:colId xmlns:a16="http://schemas.microsoft.com/office/drawing/2014/main" val="3879312617"/>
                    </a:ext>
                  </a:extLst>
                </a:gridCol>
                <a:gridCol w="2114723">
                  <a:extLst>
                    <a:ext uri="{9D8B030D-6E8A-4147-A177-3AD203B41FA5}">
                      <a16:colId xmlns:a16="http://schemas.microsoft.com/office/drawing/2014/main" val="2811980704"/>
                    </a:ext>
                  </a:extLst>
                </a:gridCol>
              </a:tblGrid>
              <a:tr h="1740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Case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Latitude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Longitude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Time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Tilt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Pan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X interp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Z interp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X STM th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Z STM th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X real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Z real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1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Notes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816583"/>
                  </a:ext>
                </a:extLst>
              </a:tr>
              <a:tr h="3151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40.43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-3.73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2026-07-09 12:17 +02:00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180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15.5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58.9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15.5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58.9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59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OK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167755"/>
                  </a:ext>
                </a:extLst>
              </a:tr>
              <a:tr h="3151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40.43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-3.73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2026-07-09 13:29 +02:00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180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22.3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72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22.3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72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72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OK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003888"/>
                  </a:ext>
                </a:extLst>
              </a:tr>
              <a:tr h="3151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40.43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-3.73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2026-07-09 14:18 +02:00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180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23.9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74.8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23.9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74.8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73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Z mechanical limit around 73 mm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709391"/>
                  </a:ext>
                </a:extLst>
              </a:tr>
              <a:tr h="3151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40.43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-3.73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2026-07-09 15:46 +02:00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180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19.9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67.2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19.9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67.2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67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OK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221323"/>
                  </a:ext>
                </a:extLst>
              </a:tr>
              <a:tr h="3151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51.51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-0.13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2026-07-10 08:04 +01:00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180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4.2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4.2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29.1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OK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705159"/>
                  </a:ext>
                </a:extLst>
              </a:tr>
              <a:tr h="3151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51.51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-0.13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2026-07-10 09:46 +01:00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180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4.9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31.6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4.9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31.6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OK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257657"/>
                  </a:ext>
                </a:extLst>
              </a:tr>
              <a:tr h="3151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51.51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-0.13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2026-07-10 09:54 +01:00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180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39.2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21.9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39.2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21.9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39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OK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993433"/>
                  </a:ext>
                </a:extLst>
              </a:tr>
              <a:tr h="3151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40.43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-3.73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2026-07-10 12:46 +02:00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90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160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33.2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16.2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33.2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16.2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OK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493819"/>
                  </a:ext>
                </a:extLst>
              </a:tr>
              <a:tr h="3151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40.43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-3.73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2026-07-10 14:12 +02:00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90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160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46.2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26.5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46.2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26.4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46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26</a:t>
                      </a: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Lower-</a:t>
                      </a:r>
                      <a:r>
                        <a:rPr lang="es-ES" sz="1000" b="0" i="0" u="none" strike="noStrike" dirty="0" err="1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left</a:t>
                      </a:r>
                      <a:r>
                        <a:rPr lang="es-ES" sz="1000" b="0" i="0" u="none" strike="noStrike" dirty="0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s-ES" sz="1000" b="0" i="0" u="none" strike="noStrike" dirty="0" err="1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belt</a:t>
                      </a:r>
                      <a:r>
                        <a:rPr lang="es-ES" sz="1000" b="0" i="0" u="none" strike="noStrike" dirty="0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/slider </a:t>
                      </a:r>
                      <a:r>
                        <a:rPr lang="es-ES" sz="1000" b="0" i="0" u="none" strike="noStrike" dirty="0" err="1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lost</a:t>
                      </a:r>
                      <a:r>
                        <a:rPr lang="es-ES" sz="1000" b="0" i="0" u="none" strike="noStrike" dirty="0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s-ES" sz="1000" b="0" i="0" u="none" strike="noStrike" dirty="0" err="1">
                          <a:solidFill>
                            <a:srgbClr val="104861"/>
                          </a:solidFill>
                          <a:effectLst/>
                          <a:latin typeface="Aptos Narrow" panose="020B0004020202020204" pitchFamily="34" charset="0"/>
                        </a:rPr>
                        <a:t>steps</a:t>
                      </a:r>
                      <a:endParaRPr lang="es-ES" sz="1000" b="0" i="0" u="none" strike="noStrike" dirty="0">
                        <a:solidFill>
                          <a:srgbClr val="10486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5" marR="8705" marT="870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677203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EA781D7B-07FE-DCE3-7D17-8D3D8DF79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2" y="2324457"/>
            <a:ext cx="12150039" cy="448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935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c7185ee-1382-4700-b10c-3629d6c96f2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5BBB0937AFC62448F7400286478DA72" ma:contentTypeVersion="17" ma:contentTypeDescription="Crear nuevo documento." ma:contentTypeScope="" ma:versionID="8fbc5dd79f0f7f30ba70b4adcbe14777">
  <xsd:schema xmlns:xsd="http://www.w3.org/2001/XMLSchema" xmlns:xs="http://www.w3.org/2001/XMLSchema" xmlns:p="http://schemas.microsoft.com/office/2006/metadata/properties" xmlns:ns3="e7de88ee-93ff-4f97-a375-e96bb0696873" xmlns:ns4="bc7185ee-1382-4700-b10c-3629d6c96f22" targetNamespace="http://schemas.microsoft.com/office/2006/metadata/properties" ma:root="true" ma:fieldsID="378d0830afb77566c1acdbbf2c83ba3d" ns3:_="" ns4:_="">
    <xsd:import namespace="e7de88ee-93ff-4f97-a375-e96bb0696873"/>
    <xsd:import namespace="bc7185ee-1382-4700-b10c-3629d6c96f22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_activity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ServiceDateTaken" minOccurs="0"/>
                <xsd:element ref="ns4:MediaServiceObjectDetectorVersions" minOccurs="0"/>
                <xsd:element ref="ns4:MediaLengthInSeconds" minOccurs="0"/>
                <xsd:element ref="ns4:MediaServiceSearchPropertie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de88ee-93ff-4f97-a375-e96bb069687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7185ee-1382-4700-b10c-3629d6c96f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9A6E4A1-024F-4D4D-AF0B-277CCB0C8C08}">
  <ds:schemaRefs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purl.org/dc/terms/"/>
    <ds:schemaRef ds:uri="bc7185ee-1382-4700-b10c-3629d6c96f22"/>
    <ds:schemaRef ds:uri="e7de88ee-93ff-4f97-a375-e96bb0696873"/>
  </ds:schemaRefs>
</ds:datastoreItem>
</file>

<file path=customXml/itemProps2.xml><?xml version="1.0" encoding="utf-8"?>
<ds:datastoreItem xmlns:ds="http://schemas.openxmlformats.org/officeDocument/2006/customXml" ds:itemID="{44015FE4-10A1-4158-9B0D-F65639B5DEB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5ED7349-9A50-4FBB-9AD5-3943C532A4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7de88ee-93ff-4f97-a375-e96bb0696873"/>
    <ds:schemaRef ds:uri="bc7185ee-1382-4700-b10c-3629d6c96f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5904</TotalTime>
  <Words>3227</Words>
  <Application>Microsoft Office PowerPoint</Application>
  <PresentationFormat>Panorámica</PresentationFormat>
  <Paragraphs>469</Paragraphs>
  <Slides>17</Slides>
  <Notes>16</Notes>
  <HiddenSlides>2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Aptos Mono</vt:lpstr>
      <vt:lpstr>Aptos Narrow</vt:lpstr>
      <vt:lpstr>Arial</vt:lpstr>
      <vt:lpstr>Courier New</vt:lpstr>
      <vt:lpstr>Lato</vt:lpstr>
      <vt:lpstr>Office Theme</vt:lpstr>
      <vt:lpstr>Presentación de PowerPoint</vt:lpstr>
      <vt:lpstr>Window Demonstrator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 Control — Presentación funcional</dc:title>
  <dc:subject>Presentación funcional editable - Window Control</dc:subject>
  <dc:creator>OpenAI</dc:creator>
  <cp:lastModifiedBy>ALVARO CAÑIL MONTERO</cp:lastModifiedBy>
  <cp:revision>9</cp:revision>
  <dcterms:created xsi:type="dcterms:W3CDTF">2026-07-08T10:43:42Z</dcterms:created>
  <dcterms:modified xsi:type="dcterms:W3CDTF">2026-07-13T12:52:14Z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0x010100B5BBB0937AFC62448F7400286478DA72</vt:lpwstr>
  </property>
</Properties>
</file>